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77" r:id="rId17"/>
    <p:sldId id="272" r:id="rId18"/>
    <p:sldId id="273" r:id="rId19"/>
    <p:sldId id="274" r:id="rId20"/>
    <p:sldId id="269" r:id="rId21"/>
    <p:sldId id="271" r:id="rId22"/>
    <p:sldId id="270" r:id="rId23"/>
    <p:sldId id="275" r:id="rId24"/>
  </p:sldIdLst>
  <p:sldSz cx="18288000" cy="10287000"/>
  <p:notesSz cx="6858000" cy="9144000"/>
  <p:embeddedFontLst>
    <p:embeddedFont>
      <p:font typeface="League Spartan" panose="00000800000000000000"/>
      <p:bold r:id="rId28"/>
    </p:embeddedFont>
    <p:embeddedFont>
      <p:font typeface="Times New Roman Bold" panose="02020803070505020304"/>
      <p:bold r:id="rId29"/>
    </p:embeddedFont>
    <p:embeddedFont>
      <p:font typeface="Roboto Bold" panose="02000000000000000000"/>
      <p:bold r:id="rId30"/>
    </p:embeddedFont>
    <p:embeddedFont>
      <p:font typeface="Archivo Black" panose="020B0A03020202020B04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  <p:embeddedFont>
      <p:font typeface="Times New Roman Italics" panose="02020503050405090304"/>
      <p:italic r:id="rId36"/>
    </p:embeddedFont>
    <p:embeddedFont>
      <p:font typeface="Arial Black" panose="020B0A04020102020204" charset="0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3" d="100"/>
          <a:sy n="73" d="100"/>
        </p:scale>
        <p:origin x="594" y="-6"/>
      </p:cViewPr>
      <p:guideLst>
        <p:guide orient="horz" pos="21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7514234" y="0"/>
            <a:ext cx="2453225" cy="2375168"/>
          </a:xfrm>
          <a:custGeom>
            <a:avLst/>
            <a:gdLst/>
            <a:ahLst/>
            <a:cxnLst/>
            <a:rect l="l" t="t" r="r" b="b"/>
            <a:pathLst>
              <a:path w="2453225" h="2375168">
                <a:moveTo>
                  <a:pt x="0" y="0"/>
                </a:moveTo>
                <a:lnTo>
                  <a:pt x="2453225" y="0"/>
                </a:lnTo>
                <a:lnTo>
                  <a:pt x="2453225" y="2375168"/>
                </a:lnTo>
                <a:lnTo>
                  <a:pt x="0" y="2375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589037" y="2408691"/>
            <a:ext cx="9507031" cy="1021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0"/>
              </a:lnSpc>
            </a:pPr>
            <a:r>
              <a:rPr lang="en-US" sz="5965" b="1">
                <a:solidFill>
                  <a:srgbClr val="004AAD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BULE HORA UNIVERSITY</a:t>
            </a:r>
            <a:endParaRPr lang="en-US" sz="5965" b="1">
              <a:solidFill>
                <a:srgbClr val="004AAD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217763" y="3501608"/>
            <a:ext cx="14249580" cy="3967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COLLEGE OF COMPUTING AND INFORMATICS 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DEPARTMENT OF SOFTWARE ENGINEERING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ORGANIZATION: GUBA LAFTO CONSULTING ARCHITECTS AND ENGINEERS PLC (GCAE)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ACADEMIC ADVISORS: MR. MIHIRETU &amp; MR. DEGAGA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ADVISOR </a:t>
            </a:r>
            <a:r>
              <a:rPr lang="en-US" sz="2800" b="1" dirty="0" smtClean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: </a:t>
            </a: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MR. HABTAMU (IT DIRECTOR, GCAE)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r>
              <a:rPr lang="en-US" sz="2800" b="1" dirty="0"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INTERNSHIP DURATION: JUNE 27, 2025 – OCTOBER 10, 2025</a:t>
            </a: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925"/>
              </a:lnSpc>
            </a:pPr>
            <a:endParaRPr lang="en-US" sz="2800" b="1" dirty="0"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021455" y="7437755"/>
            <a:ext cx="5019040" cy="370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95"/>
              </a:lnSpc>
              <a:spcBef>
                <a:spcPct val="0"/>
              </a:spcBef>
            </a:pPr>
            <a:r>
              <a:rPr lang="en-US" sz="3200" b="1">
                <a:solidFill>
                  <a:srgbClr val="004AAD"/>
                </a:solidFill>
                <a:latin typeface="Arial Black" panose="020B0A04020102020204" charset="0"/>
                <a:ea typeface="League Spartan" panose="00000800000000000000"/>
                <a:cs typeface="Arial Black" panose="020B0A04020102020204" charset="0"/>
                <a:sym typeface="League Spartan" panose="00000800000000000000"/>
              </a:rPr>
              <a:t>PREPARED BY:</a:t>
            </a:r>
            <a:endParaRPr lang="en-US" sz="3200" b="1">
              <a:solidFill>
                <a:srgbClr val="004AAD"/>
              </a:solidFill>
              <a:latin typeface="Arial Black" panose="020B0A04020102020204" charset="0"/>
              <a:ea typeface="League Spartan" panose="00000800000000000000"/>
              <a:cs typeface="Arial Black" panose="020B0A04020102020204" charset="0"/>
              <a:sym typeface="League Spartan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83755" y="7757795"/>
            <a:ext cx="9084945" cy="665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0"/>
              </a:lnSpc>
            </a:pPr>
            <a:r>
              <a:rPr lang="en-US" sz="2595" b="1" dirty="0">
                <a:solidFill>
                  <a:srgbClr val="303642"/>
                </a:solidFill>
                <a:latin typeface="Times New Roman" panose="02020603050405020304" pitchFamily="18" charset="0"/>
                <a:ea typeface="Roboto Bold" panose="02000000000000000000"/>
                <a:cs typeface="Times New Roman" panose="02020603050405020304" pitchFamily="18" charset="0"/>
                <a:sym typeface="Roboto Bold" panose="02000000000000000000"/>
              </a:rPr>
              <a:t>        NANBON BEKELE</a:t>
            </a:r>
            <a:endParaRPr lang="en-US" sz="2595" b="1" dirty="0">
              <a:solidFill>
                <a:srgbClr val="303642"/>
              </a:solidFill>
              <a:latin typeface="Times New Roman" panose="02020603050405020304" pitchFamily="18" charset="0"/>
              <a:ea typeface="Roboto Bold" panose="02000000000000000000"/>
              <a:cs typeface="Times New Roman" panose="02020603050405020304" pitchFamily="18" charset="0"/>
              <a:sym typeface="Roboto Bold" panose="020000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4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047880" y="8225628"/>
            <a:ext cx="897167" cy="2319099"/>
            <a:chOff x="0" y="0"/>
            <a:chExt cx="236291" cy="610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645888" y="7967901"/>
            <a:ext cx="897167" cy="2576826"/>
            <a:chOff x="0" y="0"/>
            <a:chExt cx="236291" cy="6786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3896" y="7561239"/>
            <a:ext cx="897167" cy="2983488"/>
            <a:chOff x="0" y="0"/>
            <a:chExt cx="236291" cy="7857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7261793"/>
            <a:ext cx="897167" cy="3282934"/>
            <a:chOff x="0" y="0"/>
            <a:chExt cx="236291" cy="8646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5720" y="885360"/>
            <a:ext cx="4509681" cy="450968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028700" y="539608"/>
            <a:ext cx="5201185" cy="520118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144000" y="1671465"/>
            <a:ext cx="5334000" cy="75405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25"/>
              </a:lnSpc>
            </a:pPr>
            <a:r>
              <a:rPr lang="en-US" sz="351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Contents</a:t>
            </a:r>
            <a:endParaRPr lang="en-US" sz="351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Introductions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Organization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Objectives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Role and Assigned </a:t>
            </a: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Tasks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 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Achievements 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Challenges Faced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Lessons Learned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Recommendations 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59460" lvl="1" indent="-379730" algn="just">
              <a:lnSpc>
                <a:spcPts val="4925"/>
              </a:lnSpc>
              <a:buAutoNum type="arabicPeriod"/>
            </a:pPr>
            <a:r>
              <a:rPr lang="en-US" sz="351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 </a:t>
            </a:r>
            <a:endParaRPr lang="en-US" sz="351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8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99254" y="0"/>
            <a:ext cx="6891961" cy="4586195"/>
          </a:xfrm>
          <a:custGeom>
            <a:avLst/>
            <a:gdLst/>
            <a:ahLst/>
            <a:cxnLst/>
            <a:rect l="l" t="t" r="r" b="b"/>
            <a:pathLst>
              <a:path w="6891961" h="4586195">
                <a:moveTo>
                  <a:pt x="0" y="0"/>
                </a:moveTo>
                <a:lnTo>
                  <a:pt x="6891961" y="0"/>
                </a:lnTo>
                <a:lnTo>
                  <a:pt x="6891961" y="4586195"/>
                </a:lnTo>
                <a:lnTo>
                  <a:pt x="0" y="4586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297532" y="3000755"/>
            <a:ext cx="10861297" cy="574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0"/>
              </a:lnSpc>
            </a:pPr>
            <a:r>
              <a:rPr lang="en-US" sz="3595" dirty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</a:t>
            </a:r>
            <a:r>
              <a:rPr lang="en-US" sz="3595" dirty="0">
                <a:solidFill>
                  <a:srgbClr val="261DD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Who We Are</a:t>
            </a:r>
            <a:endParaRPr lang="en-US" sz="3595" dirty="0">
              <a:solidFill>
                <a:srgbClr val="261DD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75970" lvl="1" indent="-387985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595" dirty="0" smtClean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4th-year </a:t>
            </a:r>
            <a:r>
              <a:rPr lang="en-US" sz="3595" dirty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Engineering students with a passion for innovative web development.</a:t>
            </a:r>
            <a:endParaRPr lang="en-US" sz="3595" dirty="0">
              <a:solidFill>
                <a:srgbClr val="30364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75970" lvl="1" indent="-387985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595" dirty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Combined academic knowledge with real-world application during our internship.</a:t>
            </a:r>
            <a:endParaRPr lang="en-US" sz="3595" dirty="0">
              <a:solidFill>
                <a:srgbClr val="30364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75970" lvl="1" indent="-387985" algn="l">
              <a:lnSpc>
                <a:spcPts val="5030"/>
              </a:lnSpc>
              <a:buFont typeface="Arial" panose="020B0604020202020204"/>
              <a:buChar char="•"/>
            </a:pPr>
            <a:r>
              <a:rPr lang="en-US" sz="3595" dirty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Worked as a collaborative team to design and implement Vision Hub for </a:t>
            </a:r>
            <a:r>
              <a:rPr lang="en-US" sz="3595" dirty="0" err="1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Gubalafto</a:t>
            </a:r>
            <a:r>
              <a:rPr lang="en-US" sz="3595" dirty="0">
                <a:solidFill>
                  <a:srgbClr val="30364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Consulting Architects &amp; Engineers PLC (GCAE).</a:t>
            </a:r>
            <a:endParaRPr lang="en-US" sz="3595" dirty="0">
              <a:solidFill>
                <a:srgbClr val="30364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030"/>
              </a:lnSpc>
              <a:spcBef>
                <a:spcPct val="0"/>
              </a:spcBef>
            </a:pPr>
            <a:endParaRPr lang="en-US" sz="3595" dirty="0">
              <a:solidFill>
                <a:srgbClr val="30364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047880" y="8225628"/>
            <a:ext cx="897167" cy="2319099"/>
            <a:chOff x="0" y="0"/>
            <a:chExt cx="236291" cy="6107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45888" y="7967901"/>
            <a:ext cx="897167" cy="2576826"/>
            <a:chOff x="0" y="0"/>
            <a:chExt cx="236291" cy="6786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3896" y="7380413"/>
            <a:ext cx="897167" cy="3164314"/>
            <a:chOff x="0" y="-47625"/>
            <a:chExt cx="236291" cy="833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0" y="7261793"/>
            <a:ext cx="897167" cy="3282934"/>
            <a:chOff x="0" y="0"/>
            <a:chExt cx="236291" cy="8646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699625" y="1645920"/>
            <a:ext cx="5040630" cy="939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30"/>
              </a:lnSpc>
              <a:spcBef>
                <a:spcPct val="0"/>
              </a:spcBef>
            </a:pPr>
            <a:r>
              <a:rPr lang="en-US" sz="5235" dirty="0">
                <a:solidFill>
                  <a:srgbClr val="000000"/>
                </a:solidFill>
                <a:latin typeface="Archivo Black" panose="020B0A03020202020B04"/>
                <a:ea typeface="Archivo Black" panose="020B0A03020202020B04"/>
                <a:cs typeface="Archivo Black" panose="020B0A03020202020B04"/>
                <a:sym typeface="Archivo Black" panose="020B0A03020202020B04"/>
              </a:rPr>
              <a:t>ABOUT US</a:t>
            </a:r>
            <a:endParaRPr lang="en-US" sz="5235" dirty="0">
              <a:solidFill>
                <a:srgbClr val="000000"/>
              </a:solidFill>
              <a:latin typeface="Archivo Black" panose="020B0A03020202020B04"/>
              <a:ea typeface="Archivo Black" panose="020B0A03020202020B04"/>
              <a:cs typeface="Archivo Black" panose="020B0A03020202020B04"/>
              <a:sym typeface="Archivo Black" panose="020B0A03020202020B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99369" y="8293404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08615" y="7967901"/>
            <a:ext cx="897167" cy="2486411"/>
            <a:chOff x="0" y="0"/>
            <a:chExt cx="236291" cy="610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06975" y="7858980"/>
            <a:ext cx="897167" cy="2576826"/>
            <a:chOff x="0" y="0"/>
            <a:chExt cx="236291" cy="6786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3000" y="7377915"/>
            <a:ext cx="897167" cy="2983488"/>
            <a:chOff x="0" y="0"/>
            <a:chExt cx="236291" cy="7857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120975" y="7133818"/>
            <a:ext cx="897167" cy="3282934"/>
            <a:chOff x="0" y="0"/>
            <a:chExt cx="236291" cy="8646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0" y="0"/>
            <a:ext cx="6792707" cy="5594683"/>
          </a:xfrm>
          <a:custGeom>
            <a:avLst/>
            <a:gdLst/>
            <a:ahLst/>
            <a:cxnLst/>
            <a:rect l="l" t="t" r="r" b="b"/>
            <a:pathLst>
              <a:path w="6792707" h="5594683">
                <a:moveTo>
                  <a:pt x="0" y="0"/>
                </a:moveTo>
                <a:lnTo>
                  <a:pt x="6792707" y="0"/>
                </a:lnTo>
                <a:lnTo>
                  <a:pt x="6792707" y="5594683"/>
                </a:lnTo>
                <a:lnTo>
                  <a:pt x="0" y="559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725" b="-8687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386294" y="1901480"/>
            <a:ext cx="10901706" cy="533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  <a:spcBef>
                <a:spcPct val="0"/>
              </a:spcBef>
            </a:pPr>
            <a:r>
              <a:rPr lang="en-US" sz="3770">
                <a:solidFill>
                  <a:srgbClr val="004AA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Academic Background</a:t>
            </a:r>
            <a:endParaRPr lang="en-US" sz="3770">
              <a:solidFill>
                <a:srgbClr val="004AA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Completed core courses: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14070" lvl="1" indent="-407035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Software Engineering Methodologies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14070" lvl="1" indent="-407035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Database Systems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14070" lvl="1" indent="-407035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Programming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14070" lvl="1" indent="-407035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Analysis &amp; Design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814070" lvl="1" indent="-407035" algn="l">
              <a:lnSpc>
                <a:spcPts val="5280"/>
              </a:lnSpc>
              <a:buFont typeface="Arial" panose="020B0604020202020204"/>
              <a:buChar char="•"/>
            </a:pPr>
            <a:r>
              <a:rPr lang="en-US" sz="37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Applied these skills directly in the Vision Hub project.</a:t>
            </a:r>
            <a:endParaRPr lang="en-US" sz="37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4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57679" y="8615443"/>
            <a:ext cx="897167" cy="2183545"/>
            <a:chOff x="0" y="0"/>
            <a:chExt cx="236291" cy="5750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47880" y="8225628"/>
            <a:ext cx="897167" cy="2319099"/>
            <a:chOff x="0" y="0"/>
            <a:chExt cx="236291" cy="610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45888" y="7967901"/>
            <a:ext cx="897167" cy="2576826"/>
            <a:chOff x="0" y="0"/>
            <a:chExt cx="236291" cy="6786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3896" y="7561239"/>
            <a:ext cx="897167" cy="2983488"/>
            <a:chOff x="0" y="0"/>
            <a:chExt cx="236291" cy="7857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7261793"/>
            <a:ext cx="897167" cy="3282934"/>
            <a:chOff x="0" y="0"/>
            <a:chExt cx="236291" cy="8646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0"/>
            <a:ext cx="6792707" cy="4526132"/>
          </a:xfrm>
          <a:custGeom>
            <a:avLst/>
            <a:gdLst/>
            <a:ahLst/>
            <a:cxnLst/>
            <a:rect l="l" t="t" r="r" b="b"/>
            <a:pathLst>
              <a:path w="6792707" h="4526132">
                <a:moveTo>
                  <a:pt x="0" y="0"/>
                </a:moveTo>
                <a:lnTo>
                  <a:pt x="6792707" y="0"/>
                </a:lnTo>
                <a:lnTo>
                  <a:pt x="6792707" y="4526132"/>
                </a:lnTo>
                <a:lnTo>
                  <a:pt x="0" y="4526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97" t="-694" r="-7497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135607" y="2012769"/>
            <a:ext cx="10990468" cy="660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0"/>
              </a:lnSpc>
              <a:spcBef>
                <a:spcPct val="0"/>
              </a:spcBef>
            </a:pPr>
            <a:endParaRPr sz="2800" dirty="0"/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Guba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Lafto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Consulting Architects &amp; Engineers PLC (GCAE)</a:t>
            </a:r>
            <a:endParaRPr lang="en-US" sz="3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7055" lvl="1" indent="-28384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Type: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Private consulting firm under the MIDROC Group.</a:t>
            </a:r>
            <a:endParaRPr lang="en-US" sz="3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7055" lvl="1" indent="-28384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Industry Sector: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Architecture and Engineering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ICT</a:t>
            </a:r>
            <a:r>
              <a:rPr lang="en-US" sz="3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Electro-Mechanical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and Material Testing.</a:t>
            </a:r>
            <a:endParaRPr lang="en-US" sz="3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7055" lvl="1" indent="-28384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Mission: 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 provide high-quality consultancy services, adhering to international codes and standards, with a focus on data security and integrity.</a:t>
            </a:r>
            <a:endParaRPr lang="en-US" sz="3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7055" lvl="1" indent="-283845" algn="l">
              <a:lnSpc>
                <a:spcPts val="3680"/>
              </a:lnSpc>
              <a:buFont typeface="Arial" panose="020B0604020202020204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Vision: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become a leading architectural and engineering consultancy firm in East </a:t>
            </a:r>
            <a:r>
              <a:rPr lang="en-US" sz="3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Africa.</a:t>
            </a:r>
            <a:endParaRPr lang="en-US" sz="3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680"/>
              </a:lnSpc>
              <a:spcBef>
                <a:spcPct val="0"/>
              </a:spcBef>
            </a:pPr>
            <a:endParaRPr lang="en-US" sz="262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680"/>
              </a:lnSpc>
              <a:spcBef>
                <a:spcPct val="0"/>
              </a:spcBef>
            </a:pPr>
            <a:endParaRPr lang="en-US" sz="262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77095" y="1499870"/>
            <a:ext cx="5962650" cy="528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20"/>
              </a:lnSpc>
              <a:spcBef>
                <a:spcPct val="0"/>
              </a:spcBef>
            </a:pPr>
            <a:r>
              <a:rPr lang="en-US" sz="4400">
                <a:solidFill>
                  <a:srgbClr val="004AA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Internship Organization</a:t>
            </a:r>
            <a:endParaRPr lang="en-US" sz="4400">
              <a:solidFill>
                <a:srgbClr val="004AA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57679" y="8615443"/>
            <a:ext cx="897167" cy="2183545"/>
            <a:chOff x="0" y="0"/>
            <a:chExt cx="236291" cy="5750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47880" y="8225628"/>
            <a:ext cx="897167" cy="2319099"/>
            <a:chOff x="0" y="0"/>
            <a:chExt cx="236291" cy="610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45888" y="7967901"/>
            <a:ext cx="897167" cy="2576826"/>
            <a:chOff x="0" y="0"/>
            <a:chExt cx="236291" cy="6786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3896" y="7561239"/>
            <a:ext cx="897167" cy="2983488"/>
            <a:chOff x="0" y="0"/>
            <a:chExt cx="236291" cy="7857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7261793"/>
            <a:ext cx="897167" cy="3282934"/>
            <a:chOff x="0" y="0"/>
            <a:chExt cx="236291" cy="8646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0"/>
            <a:ext cx="6792707" cy="4812641"/>
          </a:xfrm>
          <a:custGeom>
            <a:avLst/>
            <a:gdLst/>
            <a:ahLst/>
            <a:cxnLst/>
            <a:rect l="l" t="t" r="r" b="b"/>
            <a:pathLst>
              <a:path w="6792707" h="4812641">
                <a:moveTo>
                  <a:pt x="0" y="0"/>
                </a:moveTo>
                <a:lnTo>
                  <a:pt x="6792707" y="0"/>
                </a:lnTo>
                <a:lnTo>
                  <a:pt x="6792707" y="4812641"/>
                </a:lnTo>
                <a:lnTo>
                  <a:pt x="0" y="4812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97" b="-339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229600" y="638810"/>
            <a:ext cx="6824980" cy="394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Organizational Structure Overview</a:t>
            </a:r>
            <a:endParaRPr lang="en-US" sz="28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54595" y="1488440"/>
            <a:ext cx="10461625" cy="37725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Gubalafto Consulting Architects and Engineers PLC (GCAE)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Member of MIDROC Investment Group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Headed by a General Manager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Organized into four main directorates: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36320" lvl="2" indent="-345440" algn="l">
              <a:lnSpc>
                <a:spcPts val="336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&amp; Supervision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36320" lvl="2" indent="-345440" algn="l">
              <a:lnSpc>
                <a:spcPts val="336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Electro-Mechanical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36320" lvl="2" indent="-345440" algn="l">
              <a:lnSpc>
                <a:spcPts val="336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ICT Services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036320" lvl="2" indent="-345440" algn="l">
              <a:lnSpc>
                <a:spcPts val="3360"/>
              </a:lnSpc>
              <a:buFont typeface="Arial" panose="020B0604020202020204"/>
              <a:buChar char="⚬"/>
            </a:pPr>
            <a:r>
              <a:rPr lang="en-US" sz="28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HR, Purchasing, Property &amp; Finance</a:t>
            </a:r>
            <a:endParaRPr lang="en-US" sz="28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97420" y="6033135"/>
            <a:ext cx="10678160" cy="34601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08635" lvl="1" indent="-254635" algn="just">
              <a:lnSpc>
                <a:spcPts val="3300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Architectural and Engineering Design Services: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 project design (Architectural &amp; Structural).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635" lvl="1" indent="-254635" algn="just">
              <a:lnSpc>
                <a:spcPts val="3300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Electro-Mechanical Engineering Services: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MEP Systems design and consultation.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635" lvl="1" indent="-254635" algn="just">
              <a:lnSpc>
                <a:spcPts val="3300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ICT Services: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Digital infrastructure and software support.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8635" lvl="1" indent="-254635" algn="just">
              <a:lnSpc>
                <a:spcPts val="3300"/>
              </a:lnSpc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Material Testing and Inspection Service: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Material quality testing and inspection.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>
              <a:lnSpc>
                <a:spcPts val="3300"/>
              </a:lnSpc>
            </a:pP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295130" y="5312410"/>
            <a:ext cx="5955030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Key Departments &amp; Roles</a:t>
            </a:r>
            <a:endParaRPr lang="en-US" sz="32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809150" y="1207566"/>
            <a:ext cx="9067372" cy="8436788"/>
            <a:chOff x="0" y="0"/>
            <a:chExt cx="2388114" cy="22220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88114" cy="2222035"/>
            </a:xfrm>
            <a:custGeom>
              <a:avLst/>
              <a:gdLst/>
              <a:ahLst/>
              <a:cxnLst/>
              <a:rect l="l" t="t" r="r" b="b"/>
              <a:pathLst>
                <a:path w="2388114" h="2222035">
                  <a:moveTo>
                    <a:pt x="43545" y="0"/>
                  </a:moveTo>
                  <a:lnTo>
                    <a:pt x="2344569" y="0"/>
                  </a:lnTo>
                  <a:cubicBezTo>
                    <a:pt x="2356118" y="0"/>
                    <a:pt x="2367194" y="4588"/>
                    <a:pt x="2375360" y="12754"/>
                  </a:cubicBezTo>
                  <a:cubicBezTo>
                    <a:pt x="2383527" y="20920"/>
                    <a:pt x="2388114" y="31996"/>
                    <a:pt x="2388114" y="43545"/>
                  </a:cubicBezTo>
                  <a:lnTo>
                    <a:pt x="2388114" y="2178490"/>
                  </a:lnTo>
                  <a:cubicBezTo>
                    <a:pt x="2388114" y="2190039"/>
                    <a:pt x="2383527" y="2201115"/>
                    <a:pt x="2375360" y="2209281"/>
                  </a:cubicBezTo>
                  <a:cubicBezTo>
                    <a:pt x="2367194" y="2217447"/>
                    <a:pt x="2356118" y="2222035"/>
                    <a:pt x="2344569" y="2222035"/>
                  </a:cubicBezTo>
                  <a:lnTo>
                    <a:pt x="43545" y="2222035"/>
                  </a:lnTo>
                  <a:cubicBezTo>
                    <a:pt x="31996" y="2222035"/>
                    <a:pt x="20920" y="2217447"/>
                    <a:pt x="12754" y="2209281"/>
                  </a:cubicBezTo>
                  <a:cubicBezTo>
                    <a:pt x="4588" y="2201115"/>
                    <a:pt x="0" y="2190039"/>
                    <a:pt x="0" y="2178490"/>
                  </a:cubicBezTo>
                  <a:lnTo>
                    <a:pt x="0" y="43545"/>
                  </a:lnTo>
                  <a:cubicBezTo>
                    <a:pt x="0" y="31996"/>
                    <a:pt x="4588" y="20920"/>
                    <a:pt x="12754" y="12754"/>
                  </a:cubicBezTo>
                  <a:cubicBezTo>
                    <a:pt x="20920" y="4588"/>
                    <a:pt x="31996" y="0"/>
                    <a:pt x="435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88114" cy="22696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75017" y="1611041"/>
            <a:ext cx="1868266" cy="186826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75017" y="4165107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09697" y="6721613"/>
            <a:ext cx="1868266" cy="186826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364821" y="3681128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74560" y="916085"/>
            <a:ext cx="5537481" cy="240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0"/>
              </a:lnSpc>
            </a:pPr>
            <a:r>
              <a:rPr lang="en-US" sz="6925" b="1">
                <a:solidFill>
                  <a:srgbClr val="004AAD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INTERNSHIP OBJECTIVES</a:t>
            </a:r>
            <a:endParaRPr lang="en-US" sz="6925" b="1">
              <a:solidFill>
                <a:srgbClr val="004AAD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924411" y="1928275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</a:t>
            </a:r>
            <a:endParaRPr lang="en-US" sz="786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924411" y="4440787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7860" b="1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2</a:t>
            </a:r>
            <a:endParaRPr lang="en-US" sz="7860" b="1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24411" y="7097732"/>
            <a:ext cx="1638836" cy="133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786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3</a:t>
            </a:r>
            <a:endParaRPr lang="en-US" sz="786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911512" y="2190847"/>
            <a:ext cx="7965009" cy="228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Design, develop, and deploy Vision Hub, a centralized web portal for GCAE.</a:t>
            </a:r>
            <a:endParaRPr lang="en-US" sz="219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Automate and streamline workflows for HR, clients, and administrative tasks.</a:t>
            </a:r>
            <a:endParaRPr lang="en-US" sz="219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Improve organizational transparency, coordination, and data accuracy.</a:t>
            </a:r>
            <a:endParaRPr lang="en-US" sz="219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911512" y="4893860"/>
            <a:ext cx="8091477" cy="228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440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Apply academic knowledge to real-world software engineering projects.</a:t>
            </a:r>
            <a:endParaRPr lang="en-US" sz="218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2440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Gain experience in full-stack web development and cloud technologies.</a:t>
            </a:r>
            <a:endParaRPr lang="en-US" sz="218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2440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8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Enhance teamwork, communication, and project management skills.</a:t>
            </a:r>
            <a:endParaRPr lang="en-US" sz="218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065"/>
              </a:lnSpc>
            </a:pPr>
            <a:endParaRPr lang="en-US" sz="218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009547" y="7482108"/>
            <a:ext cx="7574763" cy="1906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Technical: React, </a:t>
            </a:r>
            <a:r>
              <a:rPr lang="en-US" sz="2190" dirty="0" err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TypeScript</a:t>
            </a:r>
            <a:r>
              <a:rPr lang="en-US" sz="219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Tailwind CSS, </a:t>
            </a:r>
            <a:r>
              <a:rPr lang="en-US" sz="2190" dirty="0" err="1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19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(Postgres, Edge Functions)</a:t>
            </a:r>
            <a:endParaRPr lang="en-US" sz="2190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Professional: Agile workflow, requirement analysis, system design, testing</a:t>
            </a:r>
            <a:endParaRPr lang="en-US" sz="2190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3075" lvl="1" indent="-236220" algn="l">
              <a:lnSpc>
                <a:spcPts val="3065"/>
              </a:lnSpc>
              <a:buFont typeface="Arial" panose="020B0604020202020204"/>
              <a:buChar char="•"/>
            </a:pPr>
            <a:r>
              <a:rPr lang="en-US" sz="2190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 skills: Collaboration, problem-solving, time management</a:t>
            </a:r>
            <a:endParaRPr lang="en-US" sz="2190" dirty="0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809697" y="1856202"/>
            <a:ext cx="765158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C1FF72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Main Goals of the Internship</a:t>
            </a:r>
            <a:endParaRPr lang="en-US" sz="2200" b="1">
              <a:solidFill>
                <a:srgbClr val="C1FF72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82405" y="4536037"/>
            <a:ext cx="765158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C1F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Personal Learning Objectives</a:t>
            </a:r>
            <a:endParaRPr lang="en-US" sz="2200">
              <a:solidFill>
                <a:srgbClr val="C1FF7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381174" y="7147463"/>
            <a:ext cx="7651587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C1FF7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Skills Intended to Gain</a:t>
            </a:r>
            <a:endParaRPr lang="en-US" sz="2200">
              <a:solidFill>
                <a:srgbClr val="C1FF7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42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1600" y="571500"/>
            <a:ext cx="6657975" cy="560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75"/>
              </a:lnSpc>
              <a:spcBef>
                <a:spcPct val="0"/>
              </a:spcBef>
            </a:pPr>
            <a:r>
              <a:rPr lang="en-US" sz="3125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Internship Role / Assigned Tasks</a:t>
            </a:r>
            <a:endParaRPr lang="en-US" sz="3125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514600" y="1943100"/>
            <a:ext cx="12995275" cy="7552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61340" lvl="1" indent="-280670" algn="l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Role During Internship</a:t>
            </a:r>
            <a:endParaRPr lang="en-US" sz="26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Full-Stack Developer Intern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Our team is responsible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 developing Vision Hub.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1340" lvl="1" indent="-280670" algn="l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Assigned Tasks / Projects</a:t>
            </a:r>
            <a:endParaRPr lang="en-US" sz="26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Analyze GCAE’s existing manual workflows.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Interviewed stakeholders and documented all functional requirements for the system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and implement a centralized web portal for HR, clients, and administration.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 role-based dashboards for employees, HR, department heads, and clients.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 authentication, </a:t>
            </a:r>
            <a:r>
              <a:rPr lang="en-US" sz="2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scheduling.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Conduct testing, debugging, and system evaluation.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61340" lvl="1" indent="-280670" algn="l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Tools / Software / Technologies Used</a:t>
            </a:r>
            <a:endParaRPr lang="en-US" sz="26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Frontend: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React,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TypeScript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Tailwind CSS,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shadcn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/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ui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Vite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Backend: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(PostgreSQL, Edge Functions, Storage)</a:t>
            </a: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Other Tools: 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VS Code, Postman, </a:t>
            </a:r>
            <a:r>
              <a:rPr lang="en-US" sz="26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Lucide</a:t>
            </a:r>
            <a:r>
              <a:rPr lang="en-US" sz="26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-react icons</a:t>
            </a:r>
            <a:r>
              <a:rPr lang="en-US" sz="2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</a:t>
            </a:r>
            <a:endParaRPr lang="en-US" sz="2600" dirty="0" smtClean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22680" lvl="2" indent="-374015" algn="l">
              <a:lnSpc>
                <a:spcPts val="3640"/>
              </a:lnSpc>
              <a:buFont typeface="Arial" panose="020B0604020202020204"/>
              <a:buChar char="⚬"/>
            </a:pPr>
            <a:r>
              <a:rPr lang="en-US" sz="2600" b="1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Running Environment: </a:t>
            </a:r>
            <a:r>
              <a:rPr lang="en-US" sz="2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node.js and docker desktop</a:t>
            </a:r>
            <a:br>
              <a:rPr lang="en-US" sz="26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6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0041" y="2123109"/>
            <a:ext cx="7322748" cy="2719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Requirement Gathering</a:t>
            </a:r>
            <a:endParaRPr lang="en-US" sz="22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Conducted structured interviews with HR and admin staff.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Reviewed existing documents and email workflows.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Observed ongoing processes to identify inefficiencies.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4400"/>
              </a:lnSpc>
            </a:pP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127361" y="2304084"/>
            <a:ext cx="697245" cy="697245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87625" y="2265531"/>
            <a:ext cx="376717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</a:pPr>
            <a:r>
              <a:rPr lang="en-US" sz="322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322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95325" y="2123109"/>
            <a:ext cx="7322748" cy="21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System Analysis &amp; Design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Analyzed the existing fragmented system.</a:t>
            </a: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Designed architecture, activity diagrams, and class diagrams.</a:t>
            </a: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1" indent="0" algn="l">
              <a:lnSpc>
                <a:spcPts val="440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923600" y="2304084"/>
            <a:ext cx="697245" cy="697245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027922" y="2265531"/>
            <a:ext cx="488601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65"/>
              </a:lnSpc>
              <a:spcBef>
                <a:spcPct val="0"/>
              </a:spcBef>
            </a:pPr>
            <a:r>
              <a:rPr lang="en-US" sz="3225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3225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795325" y="4492068"/>
            <a:ext cx="7322748" cy="2653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1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Testing &amp; Evaluation</a:t>
            </a:r>
            <a:endParaRPr lang="en-US" sz="21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53390" lvl="1" indent="-226695" algn="l">
              <a:lnSpc>
                <a:spcPts val="4200"/>
              </a:lnSpc>
              <a:buFont typeface="Arial" panose="020B0604020202020204"/>
              <a:buChar char="•"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Conducted unit testing, integration testing, and user acceptance testing (UAT).</a:t>
            </a:r>
            <a:endParaRPr lang="en-US" sz="21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Gathered feedback from HR and management teams.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1" indent="0" algn="l">
              <a:lnSpc>
                <a:spcPts val="4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9886223" y="4446255"/>
            <a:ext cx="771999" cy="771999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999617" y="4520643"/>
            <a:ext cx="545211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0"/>
              </a:lnSpc>
              <a:spcBef>
                <a:spcPct val="0"/>
              </a:spcBef>
            </a:pPr>
            <a:r>
              <a:rPr lang="en-US" sz="3600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endParaRPr lang="en-US" sz="3600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50041" y="4369602"/>
            <a:ext cx="8288084" cy="327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Development &amp; Implementation</a:t>
            </a:r>
            <a:endParaRPr lang="en-US" sz="22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Built frontend using React,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TypeScript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and Tailwind CSS.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backend with </a:t>
            </a:r>
            <a:r>
              <a:rPr lang="en-US" sz="220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(Postgres, Edge Functions, Storage).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Implemented role-based dashboards and secure authentication.</a:t>
            </a: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1" indent="0" algn="l">
              <a:lnSpc>
                <a:spcPts val="44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127361" y="4446255"/>
            <a:ext cx="697245" cy="697245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52096" y="4407702"/>
            <a:ext cx="488601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65"/>
              </a:lnSpc>
              <a:spcBef>
                <a:spcPct val="0"/>
              </a:spcBef>
            </a:pPr>
            <a:r>
              <a:rPr lang="en-US" sz="3225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3225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050041" y="7184346"/>
            <a:ext cx="7322748" cy="216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22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Deployment &amp; Documentation</a:t>
            </a:r>
            <a:endParaRPr lang="en-US" sz="22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Prepared final system deployment and user manuals.</a:t>
            </a: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74980" lvl="1" indent="-237490" algn="l">
              <a:lnSpc>
                <a:spcPts val="44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Documented project lifecycle and implementation details.</a:t>
            </a: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1" indent="0" algn="l">
              <a:lnSpc>
                <a:spcPts val="4400"/>
              </a:lnSpc>
              <a:spcBef>
                <a:spcPct val="0"/>
              </a:spcBef>
            </a:pPr>
            <a:endParaRPr lang="en-US" sz="22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27361" y="7365321"/>
            <a:ext cx="771999" cy="771999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23791" y="7326315"/>
            <a:ext cx="545211" cy="69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0"/>
              </a:lnSpc>
              <a:spcBef>
                <a:spcPct val="0"/>
              </a:spcBef>
            </a:pPr>
            <a:r>
              <a:rPr lang="en-US" sz="3600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lang="en-US" sz="3600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790645" y="-38100"/>
            <a:ext cx="12963155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80"/>
              </a:lnSpc>
              <a:spcBef>
                <a:spcPct val="0"/>
              </a:spcBef>
            </a:pPr>
            <a:r>
              <a:rPr lang="en-US" sz="59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Methodology / Work Process</a:t>
            </a:r>
            <a:endParaRPr lang="en-US" sz="59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62414" y="1383500"/>
            <a:ext cx="366198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Step-by-Step Approach</a:t>
            </a:r>
            <a:endParaRPr lang="en-US" sz="24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57679" y="8615443"/>
            <a:ext cx="897167" cy="2183545"/>
            <a:chOff x="0" y="0"/>
            <a:chExt cx="236291" cy="5750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47880" y="8225628"/>
            <a:ext cx="897167" cy="2319099"/>
            <a:chOff x="0" y="0"/>
            <a:chExt cx="236291" cy="6107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291" cy="610792"/>
            </a:xfrm>
            <a:custGeom>
              <a:avLst/>
              <a:gdLst/>
              <a:ahLst/>
              <a:cxnLst/>
              <a:rect l="l" t="t" r="r" b="b"/>
              <a:pathLst>
                <a:path w="236291" h="610792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92646"/>
                  </a:lnTo>
                  <a:cubicBezTo>
                    <a:pt x="236291" y="523980"/>
                    <a:pt x="223843" y="554031"/>
                    <a:pt x="201687" y="576188"/>
                  </a:cubicBezTo>
                  <a:cubicBezTo>
                    <a:pt x="179530" y="598344"/>
                    <a:pt x="149480" y="610792"/>
                    <a:pt x="118145" y="610792"/>
                  </a:cubicBezTo>
                  <a:lnTo>
                    <a:pt x="118145" y="610792"/>
                  </a:lnTo>
                  <a:cubicBezTo>
                    <a:pt x="86811" y="610792"/>
                    <a:pt x="56761" y="598344"/>
                    <a:pt x="34604" y="576188"/>
                  </a:cubicBezTo>
                  <a:cubicBezTo>
                    <a:pt x="12447" y="554031"/>
                    <a:pt x="0" y="523980"/>
                    <a:pt x="0" y="49264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36291" cy="65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45888" y="7967901"/>
            <a:ext cx="897167" cy="2576826"/>
            <a:chOff x="0" y="0"/>
            <a:chExt cx="236291" cy="6786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6291" cy="678670"/>
            </a:xfrm>
            <a:custGeom>
              <a:avLst/>
              <a:gdLst/>
              <a:ahLst/>
              <a:cxnLst/>
              <a:rect l="l" t="t" r="r" b="b"/>
              <a:pathLst>
                <a:path w="236291" h="67867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560525"/>
                  </a:lnTo>
                  <a:cubicBezTo>
                    <a:pt x="236291" y="591859"/>
                    <a:pt x="223843" y="621910"/>
                    <a:pt x="201687" y="644066"/>
                  </a:cubicBezTo>
                  <a:cubicBezTo>
                    <a:pt x="179530" y="666223"/>
                    <a:pt x="149480" y="678670"/>
                    <a:pt x="118145" y="678670"/>
                  </a:cubicBezTo>
                  <a:lnTo>
                    <a:pt x="118145" y="678670"/>
                  </a:lnTo>
                  <a:cubicBezTo>
                    <a:pt x="52895" y="678670"/>
                    <a:pt x="0" y="625775"/>
                    <a:pt x="0" y="56052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36291" cy="72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3896" y="7561239"/>
            <a:ext cx="897167" cy="2983488"/>
            <a:chOff x="0" y="0"/>
            <a:chExt cx="236291" cy="7857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291" cy="785775"/>
            </a:xfrm>
            <a:custGeom>
              <a:avLst/>
              <a:gdLst/>
              <a:ahLst/>
              <a:cxnLst/>
              <a:rect l="l" t="t" r="r" b="b"/>
              <a:pathLst>
                <a:path w="236291" h="785775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667629"/>
                  </a:lnTo>
                  <a:cubicBezTo>
                    <a:pt x="236291" y="698963"/>
                    <a:pt x="223843" y="729014"/>
                    <a:pt x="201687" y="751171"/>
                  </a:cubicBezTo>
                  <a:cubicBezTo>
                    <a:pt x="179530" y="773327"/>
                    <a:pt x="149480" y="785775"/>
                    <a:pt x="118145" y="785775"/>
                  </a:cubicBezTo>
                  <a:lnTo>
                    <a:pt x="118145" y="785775"/>
                  </a:lnTo>
                  <a:cubicBezTo>
                    <a:pt x="52895" y="785775"/>
                    <a:pt x="0" y="732879"/>
                    <a:pt x="0" y="667629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36291" cy="833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0" y="7261793"/>
            <a:ext cx="897167" cy="3282934"/>
            <a:chOff x="0" y="0"/>
            <a:chExt cx="236291" cy="86464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6291" cy="864641"/>
            </a:xfrm>
            <a:custGeom>
              <a:avLst/>
              <a:gdLst/>
              <a:ahLst/>
              <a:cxnLst/>
              <a:rect l="l" t="t" r="r" b="b"/>
              <a:pathLst>
                <a:path w="236291" h="86464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746496"/>
                  </a:lnTo>
                  <a:cubicBezTo>
                    <a:pt x="236291" y="811746"/>
                    <a:pt x="183395" y="864641"/>
                    <a:pt x="118145" y="864641"/>
                  </a:cubicBezTo>
                  <a:lnTo>
                    <a:pt x="118145" y="864641"/>
                  </a:lnTo>
                  <a:cubicBezTo>
                    <a:pt x="86811" y="864641"/>
                    <a:pt x="56761" y="852194"/>
                    <a:pt x="34604" y="830037"/>
                  </a:cubicBezTo>
                  <a:cubicBezTo>
                    <a:pt x="12447" y="807880"/>
                    <a:pt x="0" y="777830"/>
                    <a:pt x="0" y="746496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36291" cy="91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136589" y="0"/>
            <a:ext cx="6929297" cy="6115974"/>
          </a:xfrm>
          <a:custGeom>
            <a:avLst/>
            <a:gdLst/>
            <a:ahLst/>
            <a:cxnLst/>
            <a:rect l="l" t="t" r="r" b="b"/>
            <a:pathLst>
              <a:path w="6929297" h="6115974">
                <a:moveTo>
                  <a:pt x="0" y="0"/>
                </a:moveTo>
                <a:lnTo>
                  <a:pt x="6929296" y="0"/>
                </a:lnTo>
                <a:lnTo>
                  <a:pt x="6929296" y="6115974"/>
                </a:lnTo>
                <a:lnTo>
                  <a:pt x="0" y="6115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79" b="-8619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010180" y="2171913"/>
            <a:ext cx="11133816" cy="3504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2945" lvl="1" indent="-35115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sz="325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Agile Methodology:</a:t>
            </a:r>
            <a:r>
              <a:rPr lang="en-US" sz="325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Iterative development with regular stakeholder feedback.</a:t>
            </a:r>
            <a:endParaRPr lang="en-US" sz="325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02945" lvl="1" indent="-35115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sz="325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UML Diagrams:</a:t>
            </a:r>
            <a:r>
              <a:rPr lang="en-US" sz="325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Activity, class, and deployment diagrams to guide system design.</a:t>
            </a:r>
            <a:endParaRPr lang="en-US" sz="325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702945" lvl="1" indent="-351155" algn="l">
              <a:lnSpc>
                <a:spcPts val="4555"/>
              </a:lnSpc>
              <a:buFont typeface="Arial" panose="020B0604020202020204"/>
              <a:buChar char="•"/>
            </a:pPr>
            <a:r>
              <a:rPr lang="en-US" sz="3255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Component-Based Development:</a:t>
            </a:r>
            <a:r>
              <a:rPr lang="en-US" sz="325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For reusable frontend modules.</a:t>
            </a:r>
            <a:endParaRPr lang="en-US" sz="325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44000" y="838231"/>
            <a:ext cx="6248400" cy="602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40"/>
              </a:lnSpc>
              <a:spcBef>
                <a:spcPct val="0"/>
              </a:spcBef>
            </a:pPr>
            <a:r>
              <a:rPr lang="en-US" sz="338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Work Methods / Frameworks</a:t>
            </a:r>
            <a:endParaRPr lang="en-US" sz="338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5938" y="1866900"/>
            <a:ext cx="15412862" cy="6347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85"/>
              </a:lnSpc>
              <a:spcBef>
                <a:spcPct val="0"/>
              </a:spcBef>
            </a:pPr>
            <a:r>
              <a:rPr lang="en-US" sz="234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Key Accomplishments</a:t>
            </a:r>
            <a:endParaRPr lang="en-US" sz="234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Successfully developed a fully functional Vision Hub web portal centralizing HR, client, and administrative workflows.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Implemented role-based dashboards for different users: HR staff, employees, department heads, clients, and administrators.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>
              <a:lnSpc>
                <a:spcPts val="3285"/>
              </a:lnSpc>
              <a:buFont typeface="Arial" panose="020B0604020202020204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Ease the workflows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recruitment, client service requests, staff management, and departmental coordination</a:t>
            </a:r>
            <a:r>
              <a:rPr lang="en-US" sz="2400" b="1" dirty="0" smtClean="0"/>
              <a:t>.</a:t>
            </a:r>
            <a:endParaRPr lang="en-US" sz="2400" b="1" dirty="0" smtClean="0"/>
          </a:p>
          <a:p>
            <a:pPr marL="506730" lvl="1" indent="-253365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Ensured </a:t>
            </a: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integrity and centralized storage, replacing fragmented email and spreadsheet systems.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285"/>
              </a:lnSpc>
              <a:spcBef>
                <a:spcPct val="0"/>
              </a:spcBef>
            </a:pPr>
            <a:r>
              <a:rPr lang="en-US" sz="234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Skills Developed</a:t>
            </a:r>
            <a:endParaRPr lang="en-US" sz="234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Technical: Full-stack development, </a:t>
            </a:r>
            <a:r>
              <a:rPr lang="en-US" sz="2345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Edge Functions, React, </a:t>
            </a:r>
            <a:r>
              <a:rPr lang="en-US" sz="2345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TypeScript</a:t>
            </a: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Tailwind CSS.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Professional: Agile workflow, system analysis, documentation, collaborative coding.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Soft Skills: Teamwork, communication, problem-solving, time management.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285"/>
              </a:lnSpc>
              <a:spcBef>
                <a:spcPct val="0"/>
              </a:spcBef>
            </a:pPr>
            <a:r>
              <a:rPr lang="en-US" sz="234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Positive Impact on the Organization</a:t>
            </a:r>
            <a:endParaRPr lang="en-US" sz="234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Streamlined HR and departmental operations.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Improved transparency and accountability with digital dashboards.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Facilitated better client interaction and service request management.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06730" lvl="1" indent="-253365" algn="l">
              <a:lnSpc>
                <a:spcPts val="3285"/>
              </a:lnSpc>
              <a:buFont typeface="Arial" panose="020B0604020202020204"/>
              <a:buChar char="•"/>
            </a:pPr>
            <a:r>
              <a:rPr lang="en-US" sz="2345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Provided a scalable platform for future digital transformation initiatives.</a:t>
            </a:r>
            <a:endParaRPr lang="en-US" sz="2345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01594" y="952500"/>
            <a:ext cx="4684812" cy="51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Achievements / Contributions</a:t>
            </a:r>
            <a:endParaRPr lang="en-US" sz="29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60865" y="421343"/>
            <a:ext cx="2745730" cy="50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Challenges Faced</a:t>
            </a:r>
            <a:endParaRPr lang="en-US" sz="28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55344" y="1541379"/>
            <a:ext cx="13487698" cy="2147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Major Difficulties / Obstacles</a:t>
            </a:r>
            <a:endParaRPr lang="en-US" sz="245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Fragmented existing workflows: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Hard to consolidate scattered email and spreadsheet data.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Learning curve: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Familiarizing with </a:t>
            </a:r>
            <a:r>
              <a:rPr lang="en-US" sz="245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Edge Functions and advanced React/</a:t>
            </a:r>
            <a:r>
              <a:rPr lang="en-US" sz="245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TypeScript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patterns.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Scheduling conflicts: 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Aligning team tasks and coordinating with HR for live testing.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Technical issues: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Database migration, authentication configuration, and cross-origin requests.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55344" y="4570533"/>
            <a:ext cx="12887474" cy="300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How We Overcame Them</a:t>
            </a:r>
            <a:endParaRPr lang="en-US" sz="245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Conducted detailed requirement analysis and documentation to fully understand existing processes.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Studied official </a:t>
            </a:r>
            <a:r>
              <a:rPr lang="en-US" sz="2450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</a:t>
            </a: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and React documentation and applied practical examples.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Adopted Agile workflow with daily stand-ups to coordinate team tasks.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Used testing and debugging tools (Postman, browser dev tools) to resolve technical challenges.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28955" lvl="1" indent="-264160" algn="l">
              <a:lnSpc>
                <a:spcPts val="3430"/>
              </a:lnSpc>
              <a:buFont typeface="Arial" panose="020B0604020202020204"/>
              <a:buChar char="•"/>
            </a:pPr>
            <a:r>
              <a:rPr lang="en-US" sz="245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Engaged mentors and supervisors for guidance on complex issues.</a:t>
            </a: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>
              <a:lnSpc>
                <a:spcPts val="3430"/>
              </a:lnSpc>
            </a:pPr>
            <a:endParaRPr lang="en-US" sz="245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7361" y="2304084"/>
            <a:ext cx="697245" cy="69724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287625" y="2265531"/>
            <a:ext cx="376717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</a:pPr>
            <a:r>
              <a:rPr lang="en-US" sz="3225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endParaRPr lang="en-US" sz="3225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27361" y="4794877"/>
            <a:ext cx="697245" cy="69724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175741" y="4756324"/>
            <a:ext cx="488601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65"/>
              </a:lnSpc>
              <a:spcBef>
                <a:spcPct val="0"/>
              </a:spcBef>
            </a:pPr>
            <a:r>
              <a:rPr lang="en-US" sz="3225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lang="en-US" sz="3225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127361" y="7305826"/>
            <a:ext cx="697245" cy="697245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75741" y="7267273"/>
            <a:ext cx="488601" cy="631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065"/>
              </a:lnSpc>
              <a:spcBef>
                <a:spcPct val="0"/>
              </a:spcBef>
            </a:pPr>
            <a:r>
              <a:rPr lang="en-US" sz="3225" u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lang="en-US" sz="3225" u="none">
              <a:solidFill>
                <a:srgbClr val="FFFF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80050" y="826135"/>
            <a:ext cx="6206490" cy="681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Lessons Learned</a:t>
            </a:r>
            <a:endParaRPr lang="en-US" sz="38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69380" y="2190503"/>
            <a:ext cx="9758958" cy="240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Technical Skills Gained</a:t>
            </a:r>
            <a:endParaRPr lang="en-US" sz="23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Full-stack web development with React and TypeScript.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Backend development using Supabase (PostgreSQL, Edge Functions, Storage).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Database design, authentication, and secure role-based access control (RBAC).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UI/UX design using Tailwind CSS and component-based development.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Testing methodologies: unit, integration, and UAT.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969380" y="4991100"/>
            <a:ext cx="9758958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Soft Skills Learned</a:t>
            </a:r>
            <a:endParaRPr lang="en-US" sz="23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Teamwork and collaborative problem-solving in a group project setting.</a:t>
            </a:r>
            <a:endParaRPr lang="en-US" sz="23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Communication with stakeholders and supervisors for requirement gathering.</a:t>
            </a:r>
            <a:endParaRPr lang="en-US" sz="23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Time management, task prioritization, and Agile workflow practices.</a:t>
            </a:r>
            <a:endParaRPr lang="en-US" sz="23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Professional documentation and presentation skills.</a:t>
            </a:r>
            <a:endParaRPr lang="en-US" sz="23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969380" y="7294880"/>
            <a:ext cx="11285786" cy="200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Industry Insights</a:t>
            </a:r>
            <a:endParaRPr lang="en-US" sz="23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Importance of digital transformation in improving organizational efficiency.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Real-world challenges in centralizing fragmented workflows.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Practical exposure to modern cloud-based serverless architectures.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96570" lvl="1" indent="-248285" algn="l">
              <a:lnSpc>
                <a:spcPts val="3220"/>
              </a:lnSpc>
              <a:buFont typeface="Arial" panose="020B0604020202020204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Understanding security, scalability, and maintainability considerations in enterprise systems.</a:t>
            </a:r>
            <a:endParaRPr lang="en-US" sz="23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527935" y="876300"/>
            <a:ext cx="12092940" cy="1470025"/>
          </a:xfrm>
        </p:spPr>
        <p:txBody>
          <a:bodyPr/>
          <a:p>
            <a:r>
              <a:rPr lang="en-US" altLang="en-US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altLang="en-US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14705" y="2531745"/>
            <a:ext cx="16282035" cy="6667500"/>
          </a:xfrm>
        </p:spPr>
        <p:txBody>
          <a:bodyPr/>
          <a:p>
            <a:pPr algn="l"/>
            <a:r>
              <a:rPr lang="en-US" altLang="en-US" sz="4000" b="1">
                <a:solidFill>
                  <a:schemeClr val="accent1"/>
                </a:solidFill>
              </a:rPr>
              <a:t>1. Functional Requirements.</a:t>
            </a:r>
            <a:endParaRPr lang="en-US" altLang="en-US" sz="4000" b="1">
              <a:solidFill>
                <a:schemeClr val="accent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 User Authentication and Access Control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Client Functionalities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HR Staff Functionalities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Department Head Functionalities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Employee Functionalities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Marketing Communications Functionalities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Reporting and Dashboard</a:t>
            </a:r>
            <a:endParaRPr lang="en-US" altLang="en-US" sz="3500">
              <a:solidFill>
                <a:schemeClr val="tx1"/>
              </a:solidFill>
            </a:endParaRPr>
          </a:p>
          <a:p>
            <a:pPr marL="1028700" lvl="1" indent="-571500" algn="l">
              <a:buFont typeface="Wingdings" panose="05000000000000000000" charset="0"/>
              <a:buChar char="ü"/>
            </a:pPr>
            <a:r>
              <a:rPr lang="en-US" altLang="en-US" sz="3500">
                <a:solidFill>
                  <a:schemeClr val="tx1"/>
                </a:solidFill>
              </a:rPr>
              <a:t>Database and Data Management</a:t>
            </a:r>
            <a:endParaRPr lang="en-US" altLang="en-US" sz="3500">
              <a:solidFill>
                <a:schemeClr val="tx1"/>
              </a:solidFill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038600" y="723900"/>
            <a:ext cx="9564370" cy="1470025"/>
          </a:xfrm>
        </p:spPr>
        <p:txBody>
          <a:bodyPr>
            <a:noAutofit/>
          </a:bodyPr>
          <a:p>
            <a:r>
              <a:rPr lang="en-US" altLang="en-US" sz="4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Non-Functional Requirements</a:t>
            </a:r>
            <a:endParaRPr lang="en-US" altLang="en-US" sz="48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2483485"/>
            <a:ext cx="15691485" cy="6438900"/>
          </a:xfrm>
        </p:spPr>
        <p:txBody>
          <a:bodyPr/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Performance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Security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Usability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Reliability and Availability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Scalability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Maintainability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 algn="l">
              <a:buFont typeface="Wingdings" panose="05000000000000000000" charset="0"/>
              <a:buChar char="ü"/>
            </a:pPr>
            <a:r>
              <a:rPr lang="en-US" altLang="en-US">
                <a:solidFill>
                  <a:schemeClr val="tx1"/>
                </a:solidFill>
              </a:rPr>
              <a:t>Portability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7307" y="-9797"/>
            <a:ext cx="12544493" cy="9612218"/>
          </a:xfrm>
          <a:custGeom>
            <a:avLst/>
            <a:gdLst/>
            <a:ahLst/>
            <a:cxnLst/>
            <a:rect l="l" t="t" r="r" b="b"/>
            <a:pathLst>
              <a:path w="12544493" h="9612218">
                <a:moveTo>
                  <a:pt x="0" y="0"/>
                </a:moveTo>
                <a:lnTo>
                  <a:pt x="12544493" y="0"/>
                </a:lnTo>
                <a:lnTo>
                  <a:pt x="12544493" y="9612218"/>
                </a:lnTo>
                <a:lnTo>
                  <a:pt x="0" y="961221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23176" y="410270"/>
            <a:ext cx="5163741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System Architecture (UML Diagrams)</a:t>
            </a:r>
            <a:endParaRPr lang="en-US" sz="25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15200" y="9633990"/>
            <a:ext cx="3784699" cy="46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2580" i="1" dirty="0">
                <a:solidFill>
                  <a:srgbClr val="000000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Admin side activity diagram.</a:t>
            </a:r>
            <a:endParaRPr lang="en-US" sz="2580" i="1" dirty="0">
              <a:solidFill>
                <a:srgbClr val="000000"/>
              </a:solidFill>
              <a:latin typeface="Times New Roman Italics" panose="02020503050405090304"/>
              <a:ea typeface="Times New Roman Italics" panose="02020503050405090304"/>
              <a:cs typeface="Times New Roman Italics" panose="02020503050405090304"/>
              <a:sym typeface="Times New Roman Italics" panose="020205030504050903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277" y="27963"/>
            <a:ext cx="2066723" cy="8413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20476" y="0"/>
            <a:ext cx="10671724" cy="9850463"/>
          </a:xfrm>
          <a:custGeom>
            <a:avLst/>
            <a:gdLst/>
            <a:ahLst/>
            <a:cxnLst/>
            <a:rect l="l" t="t" r="r" b="b"/>
            <a:pathLst>
              <a:path w="10671724" h="9850463">
                <a:moveTo>
                  <a:pt x="0" y="0"/>
                </a:moveTo>
                <a:lnTo>
                  <a:pt x="10671724" y="0"/>
                </a:lnTo>
                <a:lnTo>
                  <a:pt x="10671724" y="9850463"/>
                </a:lnTo>
                <a:lnTo>
                  <a:pt x="0" y="985046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6" r="-513" b="-50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208562" y="9802838"/>
            <a:ext cx="331678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>
                <a:solidFill>
                  <a:srgbClr val="000000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Employee Side Activity Diagram</a:t>
            </a:r>
            <a:endParaRPr lang="en-US" sz="2000" i="1">
              <a:solidFill>
                <a:srgbClr val="000000"/>
              </a:solidFill>
              <a:latin typeface="Times New Roman Italics" panose="02020503050405090304"/>
              <a:ea typeface="Times New Roman Italics" panose="02020503050405090304"/>
              <a:cs typeface="Times New Roman Italics" panose="02020503050405090304"/>
              <a:sym typeface="Times New Roman Italics" panose="02020503050405090304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81400" y="120263"/>
            <a:ext cx="10405595" cy="9026854"/>
          </a:xfrm>
          <a:custGeom>
            <a:avLst/>
            <a:gdLst/>
            <a:ahLst/>
            <a:cxnLst/>
            <a:rect l="l" t="t" r="r" b="b"/>
            <a:pathLst>
              <a:path w="10405595" h="9026854">
                <a:moveTo>
                  <a:pt x="0" y="0"/>
                </a:moveTo>
                <a:lnTo>
                  <a:pt x="10405595" y="0"/>
                </a:lnTo>
                <a:lnTo>
                  <a:pt x="10405595" y="9026854"/>
                </a:lnTo>
                <a:lnTo>
                  <a:pt x="0" y="90268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10400" y="9258300"/>
            <a:ext cx="4452491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1" dirty="0">
                <a:solidFill>
                  <a:srgbClr val="000000"/>
                </a:solidFill>
                <a:latin typeface="Times New Roman Italics" panose="02020503050405090304"/>
                <a:ea typeface="Times New Roman Italics" panose="02020503050405090304"/>
                <a:cs typeface="Times New Roman Italics" panose="02020503050405090304"/>
                <a:sym typeface="Times New Roman Italics" panose="02020503050405090304"/>
              </a:rPr>
              <a:t>Departments Head Side Activity Diagram</a:t>
            </a:r>
            <a:endParaRPr lang="en-US" sz="2100" i="1" dirty="0">
              <a:solidFill>
                <a:srgbClr val="000000"/>
              </a:solidFill>
              <a:latin typeface="Times New Roman Italics" panose="02020503050405090304"/>
              <a:ea typeface="Times New Roman Italics" panose="02020503050405090304"/>
              <a:cs typeface="Times New Roman Italics" panose="02020503050405090304"/>
              <a:sym typeface="Times New Roman Italics" panose="02020503050405090304"/>
            </a:endParaRPr>
          </a:p>
        </p:txBody>
      </p:sp>
      <p:sp>
        <p:nvSpPr>
          <p:cNvPr id="4" name="Freeform 5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2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3794" y="642537"/>
            <a:ext cx="6227606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  <a:spcBef>
                <a:spcPct val="0"/>
              </a:spcBef>
            </a:pPr>
            <a:r>
              <a:rPr lang="en-US" sz="322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Recommendations / Suggestions</a:t>
            </a:r>
            <a:endParaRPr lang="en-US" sz="322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135169" y="1871625"/>
            <a:ext cx="12340679" cy="256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990" lvl="1" indent="-277495" algn="l">
              <a:lnSpc>
                <a:spcPts val="4035"/>
              </a:lnSpc>
              <a:buFont typeface="Arial" panose="020B0604020202020204"/>
              <a:buChar char="•"/>
            </a:pPr>
            <a:r>
              <a:rPr lang="en-US" sz="257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Integrate system-wide activity logging for improved auditing and accountability</a:t>
            </a:r>
            <a:r>
              <a:rPr lang="en-US" sz="257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..</a:t>
            </a:r>
            <a:endParaRPr lang="en-US" sz="257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54990" lvl="1" indent="-277495" algn="l">
              <a:lnSpc>
                <a:spcPts val="4035"/>
              </a:lnSpc>
              <a:buFont typeface="Arial" panose="020B0604020202020204"/>
              <a:buChar char="•"/>
            </a:pPr>
            <a:r>
              <a:rPr lang="en-US" sz="257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Optimize the interface for mobile devices or develop a lightweight mobile app</a:t>
            </a:r>
            <a:r>
              <a:rPr lang="en-US" sz="257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sz="2570" dirty="0" smtClean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54990" lvl="1" indent="-277495" algn="l">
              <a:lnSpc>
                <a:spcPts val="4035"/>
              </a:lnSpc>
              <a:buFont typeface="Arial" panose="020B0604020202020204"/>
              <a:buChar char="•"/>
            </a:pPr>
            <a:r>
              <a:rPr lang="en-US" sz="257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Regular backup and maintenance</a:t>
            </a:r>
            <a:endParaRPr lang="en-US" sz="257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54990" lvl="1" indent="-277495" algn="l">
              <a:lnSpc>
                <a:spcPts val="4035"/>
              </a:lnSpc>
              <a:buFont typeface="Arial" panose="020B0604020202020204"/>
              <a:buChar char="•"/>
            </a:pPr>
            <a:r>
              <a:rPr lang="en-US" sz="257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Expand integration and automation capability</a:t>
            </a:r>
            <a:endParaRPr lang="en-US" sz="2570" dirty="0" smtClean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54990" lvl="1" indent="-277495" algn="l">
              <a:lnSpc>
                <a:spcPts val="4035"/>
              </a:lnSpc>
              <a:buFont typeface="Arial" panose="020B0604020202020204"/>
              <a:buChar char="•"/>
            </a:pPr>
            <a:r>
              <a:rPr lang="en-US" sz="257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Implement AI powered analytic and reporting</a:t>
            </a:r>
            <a:endParaRPr lang="en-US" sz="257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285828" y="5765997"/>
            <a:ext cx="13200906" cy="251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9980" lvl="2" indent="-370205" algn="just">
              <a:lnSpc>
                <a:spcPts val="4035"/>
              </a:lnSpc>
              <a:buFont typeface="Arial" panose="020B0604020202020204"/>
              <a:buChar char="⚬"/>
            </a:pPr>
            <a:r>
              <a:rPr lang="en-US" sz="25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Familiarize yourself with full-stack development technologies: React, TypeScript, Supabase.</a:t>
            </a:r>
            <a:endParaRPr lang="en-US" sz="25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09980" lvl="2" indent="-370205" algn="just">
              <a:lnSpc>
                <a:spcPts val="4035"/>
              </a:lnSpc>
              <a:buFont typeface="Arial" panose="020B0604020202020204"/>
              <a:buChar char="⚬"/>
            </a:pPr>
            <a:r>
              <a:rPr lang="en-US" sz="25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Understand role-based access control and secure web development practices.</a:t>
            </a:r>
            <a:endParaRPr lang="en-US" sz="25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09980" lvl="2" indent="-370205" algn="just">
              <a:lnSpc>
                <a:spcPts val="4035"/>
              </a:lnSpc>
              <a:buFont typeface="Arial" panose="020B0604020202020204"/>
              <a:buChar char="⚬"/>
            </a:pPr>
            <a:r>
              <a:rPr lang="en-US" sz="25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Prioritize communication and teamwork for successful project completion.</a:t>
            </a:r>
            <a:endParaRPr lang="en-US" sz="25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09980" lvl="2" indent="-370205" algn="just">
              <a:lnSpc>
                <a:spcPts val="4035"/>
              </a:lnSpc>
              <a:buFont typeface="Arial" panose="020B0604020202020204"/>
              <a:buChar char="⚬"/>
            </a:pPr>
            <a:r>
              <a:rPr lang="en-US" sz="25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Document all workflows, challenges, and solutions throughout the internship.</a:t>
            </a:r>
            <a:endParaRPr lang="en-US" sz="25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09980" lvl="2" indent="-370205" algn="just">
              <a:lnSpc>
                <a:spcPts val="4035"/>
              </a:lnSpc>
              <a:buFont typeface="Arial" panose="020B0604020202020204"/>
              <a:buChar char="⚬"/>
            </a:pPr>
            <a:r>
              <a:rPr lang="en-US" sz="257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Take initiative to learn new tools and frameworks that improve productivity.</a:t>
            </a:r>
            <a:endParaRPr lang="en-US" sz="257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73794" y="4514049"/>
            <a:ext cx="5846606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5"/>
              </a:lnSpc>
              <a:spcBef>
                <a:spcPct val="0"/>
              </a:spcBef>
            </a:pPr>
            <a:r>
              <a:rPr lang="en-US" sz="3225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Advice for Future Interns</a:t>
            </a:r>
            <a:endParaRPr lang="en-US" sz="3225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1245" y="496651"/>
            <a:ext cx="4694188" cy="50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References / Acknowledgments</a:t>
            </a:r>
            <a:endParaRPr lang="en-US" sz="28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33235" y="1897320"/>
            <a:ext cx="14141351" cy="21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200" b="1">
                <a:solidFill>
                  <a:srgbClr val="004AA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Acknowledgments</a:t>
            </a:r>
            <a:endParaRPr lang="en-US" sz="3200">
              <a:solidFill>
                <a:srgbClr val="004AA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University Advisor: Mr. Mihiretu and Mr. Degaga – for academic guidance and support.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Company Supervisor: Mr. Habtamu (ICT Director, GCAE) – for mentorship, feedback, and project supervision.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Organization Staff: HR and departmental teams at GCAE – for cooperation and insights.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Family &amp; Friends: For encouragement and support throughout the internship.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33235" y="4669336"/>
            <a:ext cx="12564814" cy="2153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2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References</a:t>
            </a:r>
            <a:endParaRPr lang="en-US" sz="24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Gubalafto Consulting Architects &amp; Engineers PLC (GCAE) – Context Manual (GCAE/SOM/001).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Supabase Official Documentation: https://supabase.com/docs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React Official Documentation: https://react.dev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Tailwind CSS Official Documentation: https://tailwindcss.com/docs</a:t>
            </a:r>
            <a:endParaRPr lang="en-US" sz="240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46530" y="469624"/>
            <a:ext cx="2185095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b="1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Conclusion</a:t>
            </a:r>
            <a:endParaRPr lang="en-US" sz="3600" b="1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82750" y="2182236"/>
            <a:ext cx="12726888" cy="232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Summary of Overall Experience</a:t>
            </a:r>
            <a:endParaRPr lang="en-US" sz="25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Successfully designed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Vision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Hub, centralizing workflows for GCAE.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Gained practical experience in full-stack web development and </a:t>
            </a:r>
            <a:r>
              <a:rPr lang="en-US" sz="2400" dirty="0" err="1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serverless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technologies.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Learned to collaborate effectively in a team and interact with real-world stakeholders.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Overcame challenges in database migration, authentication, and system integration.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84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82750" y="5057775"/>
            <a:ext cx="11975902" cy="2249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1" dirty="0">
                <a:solidFill>
                  <a:srgbClr val="004AAD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Contribution to Career Goals</a:t>
            </a:r>
            <a:endParaRPr lang="en-US" sz="2500" b="1" dirty="0">
              <a:solidFill>
                <a:srgbClr val="004AAD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Strengthened technical skills applicable to enterprise software development.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Developed soft skills including teamwork, communication, and problem-solving.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Gained insight into industry best practices, digital transformation, and scalable system design.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8160" lvl="1" indent="-25908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Prepared for future professional roles in software engineering and IT consultancy.</a:t>
            </a:r>
            <a:endParaRPr lang="en-US" sz="2400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98500" y="3124200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41400" y="3124200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52559" y="3191597"/>
            <a:ext cx="8421405" cy="126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5"/>
              </a:lnSpc>
            </a:pPr>
            <a:r>
              <a:rPr lang="en-US" sz="7380" b="1">
                <a:solidFill>
                  <a:srgbClr val="004AAD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THANK YOU</a:t>
            </a:r>
            <a:endParaRPr lang="en-US" sz="7380" b="1">
              <a:solidFill>
                <a:srgbClr val="004AAD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6622764" y="6669788"/>
            <a:ext cx="5855796" cy="1830647"/>
            <a:chOff x="0" y="0"/>
            <a:chExt cx="1542267" cy="4821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2267" cy="482146"/>
            </a:xfrm>
            <a:custGeom>
              <a:avLst/>
              <a:gdLst/>
              <a:ahLst/>
              <a:cxnLst/>
              <a:rect l="l" t="t" r="r" b="b"/>
              <a:pathLst>
                <a:path w="1542267" h="482146">
                  <a:moveTo>
                    <a:pt x="67427" y="0"/>
                  </a:moveTo>
                  <a:lnTo>
                    <a:pt x="1474840" y="0"/>
                  </a:lnTo>
                  <a:cubicBezTo>
                    <a:pt x="1512079" y="0"/>
                    <a:pt x="1542267" y="30188"/>
                    <a:pt x="1542267" y="67427"/>
                  </a:cubicBezTo>
                  <a:lnTo>
                    <a:pt x="1542267" y="414719"/>
                  </a:lnTo>
                  <a:cubicBezTo>
                    <a:pt x="1542267" y="432602"/>
                    <a:pt x="1535163" y="449752"/>
                    <a:pt x="1522518" y="462397"/>
                  </a:cubicBezTo>
                  <a:cubicBezTo>
                    <a:pt x="1509873" y="475042"/>
                    <a:pt x="1492723" y="482146"/>
                    <a:pt x="1474840" y="482146"/>
                  </a:cubicBezTo>
                  <a:lnTo>
                    <a:pt x="67427" y="482146"/>
                  </a:lnTo>
                  <a:cubicBezTo>
                    <a:pt x="30188" y="482146"/>
                    <a:pt x="0" y="451958"/>
                    <a:pt x="0" y="414719"/>
                  </a:cubicBezTo>
                  <a:lnTo>
                    <a:pt x="0" y="67427"/>
                  </a:lnTo>
                  <a:cubicBezTo>
                    <a:pt x="0" y="30188"/>
                    <a:pt x="30188" y="0"/>
                    <a:pt x="6742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542267" cy="5297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347826" y="6846823"/>
            <a:ext cx="3592349" cy="1653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THANK YOU FOR YOUR ATTENTION! </a:t>
            </a:r>
            <a:endParaRPr lang="en-US" sz="3150">
              <a:solidFill>
                <a:srgbClr val="FFFFF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6224383" y="0"/>
            <a:ext cx="2063617" cy="838231"/>
          </a:xfrm>
          <a:custGeom>
            <a:avLst/>
            <a:gdLst/>
            <a:ahLst/>
            <a:cxnLst/>
            <a:rect l="l" t="t" r="r" b="b"/>
            <a:pathLst>
              <a:path w="2063617" h="838231">
                <a:moveTo>
                  <a:pt x="0" y="0"/>
                </a:moveTo>
                <a:lnTo>
                  <a:pt x="2063617" y="0"/>
                </a:lnTo>
                <a:lnTo>
                  <a:pt x="2063617" y="838231"/>
                </a:lnTo>
                <a:lnTo>
                  <a:pt x="0" y="83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4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0"/>
            <a:ext cx="1161633" cy="1124672"/>
          </a:xfrm>
          <a:custGeom>
            <a:avLst/>
            <a:gdLst/>
            <a:ahLst/>
            <a:cxnLst/>
            <a:rect l="l" t="t" r="r" b="b"/>
            <a:pathLst>
              <a:path w="1161633" h="1124672">
                <a:moveTo>
                  <a:pt x="0" y="0"/>
                </a:moveTo>
                <a:lnTo>
                  <a:pt x="1161633" y="0"/>
                </a:lnTo>
                <a:lnTo>
                  <a:pt x="1161633" y="1124672"/>
                </a:lnTo>
                <a:lnTo>
                  <a:pt x="0" y="1124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10198</Words>
  <Application>WPS Presentation</Application>
  <PresentationFormat>Custom</PresentationFormat>
  <Paragraphs>302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SimSun</vt:lpstr>
      <vt:lpstr>Wingdings</vt:lpstr>
      <vt:lpstr>League Spartan</vt:lpstr>
      <vt:lpstr>Times New Roman Bold</vt:lpstr>
      <vt:lpstr>Times New Roman</vt:lpstr>
      <vt:lpstr>Roboto Bold</vt:lpstr>
      <vt:lpstr>Times New Roman</vt:lpstr>
      <vt:lpstr>Arial</vt:lpstr>
      <vt:lpstr>Archivo Black</vt:lpstr>
      <vt:lpstr>Calibri</vt:lpstr>
      <vt:lpstr>Microsoft YaHei</vt:lpstr>
      <vt:lpstr>Arial Unicode MS</vt:lpstr>
      <vt:lpstr>Wingdings</vt:lpstr>
      <vt:lpstr>Times New Roman Italics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System Requirements</vt:lpstr>
      <vt:lpstr>2. Non-Functional Requirements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</dc:title>
  <dc:creator>Administrator</dc:creator>
  <cp:lastModifiedBy>Nanbon Bekele</cp:lastModifiedBy>
  <cp:revision>39</cp:revision>
  <dcterms:created xsi:type="dcterms:W3CDTF">2006-08-16T00:00:00Z</dcterms:created>
  <dcterms:modified xsi:type="dcterms:W3CDTF">2026-02-28T20:04:48Z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292DC144D5E24D059370A84C63C2A998_13</vt:lpwstr>
  </property>
  <property fmtid="{D5CDD505-2E9C-101B-9397-08002B2CF9AE}" pid="3" name="KSOProductBuildVer">
    <vt:lpwstr>1033-12.2.0.23155</vt:lpwstr>
  </property>
</Properties>
</file>
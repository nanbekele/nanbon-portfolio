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8288000" cy="10287000"/>
  <p:notesSz cx="6858000" cy="9144000"/>
  <p:embeddedFontLst>
    <p:embeddedFont>
      <p:font typeface="Canva Sans" panose="020B0503030501040103"/>
      <p:regular r:id="rId22"/>
    </p:embeddedFont>
    <p:embeddedFont>
      <p:font typeface="Bebas Neue Cyrillic" panose="02000506000000020004"/>
      <p:regular r:id="rId23"/>
    </p:embeddedFont>
    <p:embeddedFont>
      <p:font typeface="Open Sans"/>
      <p:regular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1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2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598428" y="0"/>
            <a:ext cx="2425218" cy="2200244"/>
          </a:xfrm>
          <a:custGeom>
            <a:avLst/>
            <a:gdLst/>
            <a:ahLst/>
            <a:cxnLst/>
            <a:rect l="l" t="t" r="r" b="b"/>
            <a:pathLst>
              <a:path w="2425218" h="2200244">
                <a:moveTo>
                  <a:pt x="0" y="0"/>
                </a:moveTo>
                <a:lnTo>
                  <a:pt x="2425217" y="0"/>
                </a:lnTo>
                <a:lnTo>
                  <a:pt x="2425217" y="2200244"/>
                </a:lnTo>
                <a:lnTo>
                  <a:pt x="0" y="220024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410200" y="-38100"/>
            <a:ext cx="7369175" cy="2426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60"/>
              </a:lnSpc>
              <a:spcBef>
                <a:spcPct val="0"/>
              </a:spcBef>
            </a:pPr>
            <a:r>
              <a:rPr lang="en-US" sz="676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BULE HORA UNVERSITY</a:t>
            </a:r>
            <a:endParaRPr lang="en-US" sz="676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79813" y="2320961"/>
            <a:ext cx="16228502" cy="1804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0"/>
              </a:lnSpc>
              <a:spcBef>
                <a:spcPct val="0"/>
              </a:spcBef>
            </a:pPr>
            <a:r>
              <a:rPr lang="en-US" sz="525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COLLEGE OF COMPUTING AND INFORMATICS</a:t>
            </a:r>
            <a:endParaRPr lang="en-US" sz="525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7350"/>
              </a:lnSpc>
              <a:spcBef>
                <a:spcPct val="0"/>
              </a:spcBef>
            </a:pPr>
            <a:r>
              <a:rPr lang="en-US" sz="525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DEPARTMENT OF SOFTWARE ENGINEERING</a:t>
            </a:r>
            <a:endParaRPr lang="en-US" sz="525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38917" y="4851333"/>
            <a:ext cx="13381792" cy="66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40"/>
              </a:lnSpc>
              <a:spcBef>
                <a:spcPct val="0"/>
              </a:spcBef>
            </a:pPr>
            <a:r>
              <a:rPr lang="en-US" sz="3885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TITLE:- USER INTERFACE (UI) ANALYSIS OF INSTAGRAM</a:t>
            </a:r>
            <a:endParaRPr lang="en-US" sz="3885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979342" y="4029969"/>
            <a:ext cx="11629444" cy="897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0"/>
              </a:lnSpc>
              <a:spcBef>
                <a:spcPct val="0"/>
              </a:spcBef>
            </a:pPr>
            <a:r>
              <a:rPr lang="en-US" sz="527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GROUP ASSIGNMENT</a:t>
            </a:r>
            <a:endParaRPr lang="en-US" sz="527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97008" y="5560697"/>
            <a:ext cx="10925626" cy="1247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r>
              <a:rPr lang="en-US" sz="3615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COURSE:    HCI</a:t>
            </a:r>
            <a:endParaRPr lang="en-US" sz="3615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5060"/>
              </a:lnSpc>
              <a:spcBef>
                <a:spcPct val="0"/>
              </a:spcBef>
            </a:pPr>
            <a:r>
              <a:rPr lang="en-US" sz="3615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COURSE CODE: SENG 8052</a:t>
            </a:r>
            <a:endParaRPr lang="en-US" sz="3615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715000" y="7505700"/>
            <a:ext cx="9573260" cy="1113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PREPARED BY:     </a:t>
            </a:r>
            <a:endParaRPr lang="en-US" sz="31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                            Nanbon Bekele                           </a:t>
            </a:r>
            <a:endParaRPr lang="en-US" altLang="en-US" sz="31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00206" y="601403"/>
            <a:ext cx="4567131" cy="1033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5"/>
              </a:lnSpc>
            </a:pPr>
            <a:r>
              <a:rPr lang="en-US" sz="76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introduction</a:t>
            </a:r>
            <a:endParaRPr lang="en-US" sz="76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1326077" y="1449957"/>
            <a:ext cx="1757694" cy="47625"/>
            <a:chOff x="0" y="0"/>
            <a:chExt cx="462932" cy="125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2932" cy="12543"/>
            </a:xfrm>
            <a:custGeom>
              <a:avLst/>
              <a:gdLst/>
              <a:ahLst/>
              <a:cxnLst/>
              <a:rect l="l" t="t" r="r" b="b"/>
              <a:pathLst>
                <a:path w="462932" h="12543">
                  <a:moveTo>
                    <a:pt x="0" y="0"/>
                  </a:moveTo>
                  <a:lnTo>
                    <a:pt x="462932" y="0"/>
                  </a:lnTo>
                  <a:lnTo>
                    <a:pt x="462932" y="12543"/>
                  </a:lnTo>
                  <a:lnTo>
                    <a:pt x="0" y="12543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6293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464674" y="3405092"/>
            <a:ext cx="335532" cy="299993"/>
            <a:chOff x="0" y="0"/>
            <a:chExt cx="247405" cy="22120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47405" cy="259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464674" y="5957934"/>
            <a:ext cx="335532" cy="299993"/>
            <a:chOff x="0" y="0"/>
            <a:chExt cx="247405" cy="2212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47405" cy="259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464674" y="9108303"/>
            <a:ext cx="335532" cy="299993"/>
            <a:chOff x="0" y="0"/>
            <a:chExt cx="247405" cy="22120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47405" cy="259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464674" y="9848784"/>
            <a:ext cx="335532" cy="299993"/>
            <a:chOff x="0" y="0"/>
            <a:chExt cx="247405" cy="22120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47405" cy="259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id="24" name="Freeform 24"/>
          <p:cNvSpPr/>
          <p:nvPr/>
        </p:nvSpPr>
        <p:spPr>
          <a:xfrm>
            <a:off x="14063167" y="2418632"/>
            <a:ext cx="3393622" cy="7431757"/>
          </a:xfrm>
          <a:custGeom>
            <a:avLst/>
            <a:gdLst/>
            <a:ahLst/>
            <a:cxnLst/>
            <a:rect l="l" t="t" r="r" b="b"/>
            <a:pathLst>
              <a:path w="3393622" h="7431757">
                <a:moveTo>
                  <a:pt x="0" y="0"/>
                </a:moveTo>
                <a:lnTo>
                  <a:pt x="3393622" y="0"/>
                </a:lnTo>
                <a:lnTo>
                  <a:pt x="3393622" y="7431757"/>
                </a:lnTo>
                <a:lnTo>
                  <a:pt x="0" y="743175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3789" r="-3789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325470" y="3338417"/>
            <a:ext cx="6758864" cy="279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5"/>
              </a:lnSpc>
            </a:pPr>
            <a:r>
              <a:rPr lang="en-US" sz="316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Widely used by:</a:t>
            </a:r>
            <a:endParaRPr lang="en-US" sz="316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83895" lvl="1" indent="-341630" algn="just">
              <a:lnSpc>
                <a:spcPts val="4435"/>
              </a:lnSpc>
              <a:buFont typeface="Arial" panose="020B0604020202020204"/>
              <a:buChar char="•"/>
            </a:pPr>
            <a:r>
              <a:rPr lang="en-US" sz="316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Youth</a:t>
            </a:r>
            <a:endParaRPr lang="en-US" sz="316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83895" lvl="1" indent="-341630" algn="just">
              <a:lnSpc>
                <a:spcPts val="4435"/>
              </a:lnSpc>
              <a:buFont typeface="Arial" panose="020B0604020202020204"/>
              <a:buChar char="•"/>
            </a:pPr>
            <a:r>
              <a:rPr lang="en-US" sz="316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Students</a:t>
            </a:r>
            <a:endParaRPr lang="en-US" sz="316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83895" lvl="1" indent="-341630" algn="just">
              <a:lnSpc>
                <a:spcPts val="4435"/>
              </a:lnSpc>
              <a:buFont typeface="Arial" panose="020B0604020202020204"/>
              <a:buChar char="•"/>
            </a:pPr>
            <a:r>
              <a:rPr lang="en-US" sz="316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Urban users</a:t>
            </a:r>
            <a:endParaRPr lang="en-US" sz="316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435"/>
              </a:lnSpc>
              <a:spcBef>
                <a:spcPct val="0"/>
              </a:spcBef>
            </a:pPr>
          </a:p>
        </p:txBody>
      </p:sp>
      <p:sp>
        <p:nvSpPr>
          <p:cNvPr id="26" name="TextBox 26"/>
          <p:cNvSpPr txBox="1"/>
          <p:nvPr/>
        </p:nvSpPr>
        <p:spPr>
          <a:xfrm>
            <a:off x="1325470" y="5900784"/>
            <a:ext cx="7313705" cy="371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0"/>
              </a:lnSpc>
            </a:pPr>
            <a:r>
              <a:rPr lang="en-US" sz="304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Designed mainly for visual communication</a:t>
            </a:r>
            <a:endParaRPr lang="en-US" sz="304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57225" lvl="1" indent="-328930" algn="l">
              <a:lnSpc>
                <a:spcPts val="4260"/>
              </a:lnSpc>
              <a:buFont typeface="Arial" panose="020B0604020202020204"/>
              <a:buChar char="•"/>
            </a:pPr>
            <a:r>
              <a:rPr lang="en-US" sz="304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Photos</a:t>
            </a:r>
            <a:endParaRPr lang="en-US" sz="304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57225" lvl="1" indent="-328930" algn="l">
              <a:lnSpc>
                <a:spcPts val="4260"/>
              </a:lnSpc>
              <a:buFont typeface="Arial" panose="020B0604020202020204"/>
              <a:buChar char="•"/>
            </a:pPr>
            <a:r>
              <a:rPr lang="en-US" sz="304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Short videos</a:t>
            </a:r>
            <a:endParaRPr lang="en-US" sz="304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57225" lvl="1" indent="-328930" algn="l">
              <a:lnSpc>
                <a:spcPts val="4260"/>
              </a:lnSpc>
              <a:buFont typeface="Arial" panose="020B0604020202020204"/>
              <a:buChar char="•"/>
            </a:pPr>
            <a:r>
              <a:rPr lang="en-US" sz="304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Stories</a:t>
            </a:r>
            <a:endParaRPr lang="en-US" sz="304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57225" lvl="1" indent="-328930" algn="l">
              <a:lnSpc>
                <a:spcPts val="4260"/>
              </a:lnSpc>
              <a:buFont typeface="Arial" panose="020B0604020202020204"/>
              <a:buChar char="•"/>
            </a:pPr>
            <a:r>
              <a:rPr lang="en-US" sz="304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Reels</a:t>
            </a:r>
            <a:endParaRPr lang="en-US" sz="304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260"/>
              </a:lnSpc>
              <a:spcBef>
                <a:spcPct val="0"/>
              </a:spcBef>
            </a:pPr>
          </a:p>
        </p:txBody>
      </p:sp>
      <p:sp>
        <p:nvSpPr>
          <p:cNvPr id="27" name="TextBox 27"/>
          <p:cNvSpPr txBox="1"/>
          <p:nvPr/>
        </p:nvSpPr>
        <p:spPr>
          <a:xfrm>
            <a:off x="800206" y="1640457"/>
            <a:ext cx="16168668" cy="1659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Instagram is one of the most popular social media platforms in Ethiopia.</a:t>
            </a:r>
            <a:endParaRPr lang="en-US" sz="48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28700" y="8910877"/>
            <a:ext cx="12805867" cy="1295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  <a:spcBef>
                <a:spcPct val="0"/>
              </a:spcBef>
            </a:pPr>
            <a:r>
              <a:rPr lang="en-US" sz="375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Follows a mobile-first, visual-centric UI design</a:t>
            </a:r>
            <a:endParaRPr lang="en-US" sz="375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5250"/>
              </a:lnSpc>
              <a:spcBef>
                <a:spcPct val="0"/>
              </a:spcBef>
            </a:pPr>
            <a:r>
              <a:rPr lang="en-US" sz="375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Goal: High engagement with simple and easy interaction</a:t>
            </a:r>
            <a:endParaRPr lang="en-US" sz="375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940888" y="1878764"/>
            <a:ext cx="7000869" cy="133713"/>
            <a:chOff x="0" y="0"/>
            <a:chExt cx="1843850" cy="352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43850" cy="35217"/>
            </a:xfrm>
            <a:custGeom>
              <a:avLst/>
              <a:gdLst/>
              <a:ahLst/>
              <a:cxnLst/>
              <a:rect l="l" t="t" r="r" b="b"/>
              <a:pathLst>
                <a:path w="1843850" h="35217">
                  <a:moveTo>
                    <a:pt x="0" y="0"/>
                  </a:moveTo>
                  <a:lnTo>
                    <a:pt x="1843850" y="0"/>
                  </a:lnTo>
                  <a:lnTo>
                    <a:pt x="1843850" y="35217"/>
                  </a:lnTo>
                  <a:lnTo>
                    <a:pt x="0" y="35217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43850" cy="73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295124" y="4198617"/>
            <a:ext cx="335532" cy="299993"/>
            <a:chOff x="0" y="0"/>
            <a:chExt cx="247405" cy="2212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295124" y="6892323"/>
            <a:ext cx="335532" cy="299993"/>
            <a:chOff x="0" y="0"/>
            <a:chExt cx="247405" cy="2212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295124" y="6030354"/>
            <a:ext cx="335532" cy="299993"/>
            <a:chOff x="0" y="0"/>
            <a:chExt cx="247405" cy="22120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sp>
        <p:nvSpPr>
          <p:cNvPr id="20" name="Freeform 20"/>
          <p:cNvSpPr/>
          <p:nvPr/>
        </p:nvSpPr>
        <p:spPr>
          <a:xfrm>
            <a:off x="12660565" y="2973712"/>
            <a:ext cx="4319615" cy="6692696"/>
          </a:xfrm>
          <a:custGeom>
            <a:avLst/>
            <a:gdLst/>
            <a:ahLst/>
            <a:cxnLst/>
            <a:rect l="l" t="t" r="r" b="b"/>
            <a:pathLst>
              <a:path w="4319615" h="6692696">
                <a:moveTo>
                  <a:pt x="0" y="0"/>
                </a:moveTo>
                <a:lnTo>
                  <a:pt x="4319615" y="0"/>
                </a:lnTo>
                <a:lnTo>
                  <a:pt x="4319615" y="6692695"/>
                </a:lnTo>
                <a:lnTo>
                  <a:pt x="0" y="669269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49655" r="-53206" b="-16165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28700" y="812082"/>
            <a:ext cx="13183934" cy="106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70"/>
              </a:lnSpc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A. Strong Sides of Instagram UI 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59256" y="3830903"/>
            <a:ext cx="11039274" cy="7036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45"/>
              </a:lnSpc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Imag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and videos dominate the screen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7045"/>
              </a:lnSpc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Minimal text and dist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ractions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7045"/>
              </a:lnSpc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ean layout improves: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72335" lvl="2" indent="-723900" algn="just">
              <a:lnSpc>
                <a:spcPts val="7045"/>
              </a:lnSpc>
              <a:buFont typeface="Arial" panose="020B0604020202020204"/>
              <a:buChar char="⚬"/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Readability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72335" lvl="2" indent="-723900" algn="just">
              <a:lnSpc>
                <a:spcPts val="7045"/>
              </a:lnSpc>
              <a:buFont typeface="Arial" panose="020B0604020202020204"/>
              <a:buChar char="⚬"/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Visual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app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72335" lvl="2" indent="-723900" algn="just">
              <a:lnSpc>
                <a:spcPts val="7045"/>
              </a:lnSpc>
              <a:buFont typeface="Arial" panose="020B0604020202020204"/>
              <a:buChar char="⚬"/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 focus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7045"/>
              </a:lnSpc>
              <a:spcBef>
                <a:spcPct val="0"/>
              </a:spcBef>
            </a:pPr>
          </a:p>
        </p:txBody>
      </p:sp>
      <p:sp>
        <p:nvSpPr>
          <p:cNvPr id="23" name="TextBox 23"/>
          <p:cNvSpPr txBox="1"/>
          <p:nvPr/>
        </p:nvSpPr>
        <p:spPr>
          <a:xfrm>
            <a:off x="-1005900" y="2507046"/>
            <a:ext cx="11179132" cy="106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03705" lvl="1" indent="-851535" algn="just">
              <a:lnSpc>
                <a:spcPts val="7970"/>
              </a:lnSpc>
              <a:buAutoNum type="arabicPeriod"/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Visual-Focused Design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51785" y="561975"/>
            <a:ext cx="12014835" cy="1021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2170" lvl="1" indent="0" algn="just">
              <a:lnSpc>
                <a:spcPts val="7970"/>
              </a:lnSpc>
              <a:buNone/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2. Intuitive &amp; Simple  Navigation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5643565" y="1495003"/>
            <a:ext cx="7000869" cy="133713"/>
            <a:chOff x="0" y="0"/>
            <a:chExt cx="1843850" cy="352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43850" cy="35217"/>
            </a:xfrm>
            <a:custGeom>
              <a:avLst/>
              <a:gdLst/>
              <a:ahLst/>
              <a:cxnLst/>
              <a:rect l="l" t="t" r="r" b="b"/>
              <a:pathLst>
                <a:path w="1843850" h="35217">
                  <a:moveTo>
                    <a:pt x="0" y="0"/>
                  </a:moveTo>
                  <a:lnTo>
                    <a:pt x="1843850" y="0"/>
                  </a:lnTo>
                  <a:lnTo>
                    <a:pt x="1843850" y="35217"/>
                  </a:lnTo>
                  <a:lnTo>
                    <a:pt x="0" y="35217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843850" cy="73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295124" y="1877539"/>
            <a:ext cx="335532" cy="299993"/>
            <a:chOff x="0" y="0"/>
            <a:chExt cx="247405" cy="22120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295124" y="5743575"/>
            <a:ext cx="335532" cy="299993"/>
            <a:chOff x="0" y="0"/>
            <a:chExt cx="247405" cy="2212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295124" y="6438505"/>
            <a:ext cx="335532" cy="299993"/>
            <a:chOff x="0" y="0"/>
            <a:chExt cx="247405" cy="22120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295124" y="9044032"/>
            <a:ext cx="335532" cy="299993"/>
            <a:chOff x="0" y="0"/>
            <a:chExt cx="247405" cy="22120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sp>
        <p:nvSpPr>
          <p:cNvPr id="24" name="Freeform 24"/>
          <p:cNvSpPr/>
          <p:nvPr/>
        </p:nvSpPr>
        <p:spPr>
          <a:xfrm>
            <a:off x="12126786" y="3032292"/>
            <a:ext cx="4715250" cy="6958179"/>
          </a:xfrm>
          <a:custGeom>
            <a:avLst/>
            <a:gdLst/>
            <a:ahLst/>
            <a:cxnLst/>
            <a:rect l="l" t="t" r="r" b="b"/>
            <a:pathLst>
              <a:path w="4715250" h="6958179">
                <a:moveTo>
                  <a:pt x="0" y="0"/>
                </a:moveTo>
                <a:lnTo>
                  <a:pt x="4715249" y="0"/>
                </a:lnTo>
                <a:lnTo>
                  <a:pt x="4715249" y="6958179"/>
                </a:lnTo>
                <a:lnTo>
                  <a:pt x="0" y="695817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028700" y="1623060"/>
            <a:ext cx="9049458" cy="450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70"/>
              </a:lnSpc>
            </a:pPr>
            <a:r>
              <a:rPr lang="en-US" sz="36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Bottom navigation bar:</a:t>
            </a:r>
            <a:endParaRPr lang="en-US" sz="369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97560" lvl="1" indent="-398780" algn="just">
              <a:lnSpc>
                <a:spcPts val="5170"/>
              </a:lnSpc>
              <a:buFont typeface="Arial" panose="020B0604020202020204"/>
              <a:buChar char="•"/>
            </a:pPr>
            <a:r>
              <a:rPr lang="en-US" sz="36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 lang="en-US" sz="369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97560" lvl="1" indent="-398780" algn="just">
              <a:lnSpc>
                <a:spcPts val="5170"/>
              </a:lnSpc>
              <a:buFont typeface="Arial" panose="020B0604020202020204"/>
              <a:buChar char="•"/>
            </a:pPr>
            <a:r>
              <a:rPr lang="en-US" sz="36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Search</a:t>
            </a:r>
            <a:endParaRPr lang="en-US" sz="369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97560" lvl="1" indent="-398780" algn="just">
              <a:lnSpc>
                <a:spcPts val="5170"/>
              </a:lnSpc>
              <a:buFont typeface="Arial" panose="020B0604020202020204"/>
              <a:buChar char="•"/>
            </a:pPr>
            <a:r>
              <a:rPr lang="en-US" sz="36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Reels</a:t>
            </a:r>
            <a:endParaRPr lang="en-US" sz="369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97560" lvl="1" indent="-398780" algn="just">
              <a:lnSpc>
                <a:spcPts val="5170"/>
              </a:lnSpc>
              <a:buFont typeface="Arial" panose="020B0604020202020204"/>
              <a:buChar char="•"/>
            </a:pPr>
            <a:r>
              <a:rPr lang="en-US" sz="36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Create</a:t>
            </a:r>
            <a:endParaRPr lang="en-US" sz="369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97560" lvl="1" indent="-398780" algn="just">
              <a:lnSpc>
                <a:spcPts val="5170"/>
              </a:lnSpc>
              <a:buFont typeface="Arial" panose="020B0604020202020204"/>
              <a:buChar char="•"/>
            </a:pPr>
            <a:r>
              <a:rPr lang="en-US" sz="36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Profile</a:t>
            </a:r>
            <a:endParaRPr lang="en-US" sz="369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170"/>
              </a:lnSpc>
              <a:spcBef>
                <a:spcPct val="0"/>
              </a:spcBef>
            </a:pPr>
            <a:r>
              <a:rPr lang="en-US" sz="36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Designed for one-hand mobile use</a:t>
            </a:r>
            <a:endParaRPr lang="en-US" sz="369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28700" y="6238480"/>
            <a:ext cx="10933521" cy="3859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25"/>
              </a:lnSpc>
            </a:pPr>
            <a:r>
              <a:rPr lang="en-US" sz="36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Familiar icons for:</a:t>
            </a:r>
            <a:endParaRPr lang="en-US" sz="366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90575" lvl="1" indent="-395605" algn="just">
              <a:lnSpc>
                <a:spcPts val="5125"/>
              </a:lnSpc>
              <a:buFont typeface="Arial" panose="020B0604020202020204"/>
              <a:buChar char="•"/>
            </a:pPr>
            <a:r>
              <a:rPr lang="en-US" sz="36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Like</a:t>
            </a:r>
            <a:endParaRPr lang="en-US" sz="366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90575" lvl="1" indent="-395605" algn="just">
              <a:lnSpc>
                <a:spcPts val="5125"/>
              </a:lnSpc>
              <a:buFont typeface="Arial" panose="020B0604020202020204"/>
              <a:buChar char="•"/>
            </a:pPr>
            <a:r>
              <a:rPr lang="en-US" sz="36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6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omment</a:t>
            </a:r>
            <a:endParaRPr lang="en-US" sz="366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90575" lvl="1" indent="-395605" algn="just">
              <a:lnSpc>
                <a:spcPts val="5125"/>
              </a:lnSpc>
              <a:buFont typeface="Arial" panose="020B0604020202020204"/>
              <a:buChar char="•"/>
            </a:pPr>
            <a:r>
              <a:rPr lang="en-US" sz="36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Share</a:t>
            </a:r>
            <a:endParaRPr lang="en-US" sz="366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5125"/>
              </a:lnSpc>
            </a:pPr>
            <a:r>
              <a:rPr lang="en-US" sz="36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Easy to lear</a:t>
            </a:r>
            <a:r>
              <a:rPr lang="en-US" sz="36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 for new users</a:t>
            </a:r>
            <a:endParaRPr lang="en-US" sz="366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125"/>
              </a:lnSpc>
            </a:pPr>
          </a:p>
        </p:txBody>
      </p:sp>
      <p:sp>
        <p:nvSpPr>
          <p:cNvPr id="27" name="TextBox 27"/>
          <p:cNvSpPr txBox="1"/>
          <p:nvPr/>
        </p:nvSpPr>
        <p:spPr>
          <a:xfrm>
            <a:off x="295124" y="468814"/>
            <a:ext cx="2498022" cy="106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70"/>
              </a:lnSpc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cont...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136675" y="647700"/>
            <a:ext cx="13183934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2170" lvl="1" indent="0" algn="just">
              <a:lnSpc>
                <a:spcPts val="7970"/>
              </a:lnSpc>
              <a:buNone/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3. Consistency&amp;Content Hierarchy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5643565" y="1580669"/>
            <a:ext cx="7000869" cy="133713"/>
            <a:chOff x="0" y="0"/>
            <a:chExt cx="1843850" cy="352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43850" cy="35217"/>
            </a:xfrm>
            <a:custGeom>
              <a:avLst/>
              <a:gdLst/>
              <a:ahLst/>
              <a:cxnLst/>
              <a:rect l="l" t="t" r="r" b="b"/>
              <a:pathLst>
                <a:path w="1843850" h="35217">
                  <a:moveTo>
                    <a:pt x="0" y="0"/>
                  </a:moveTo>
                  <a:lnTo>
                    <a:pt x="1843850" y="0"/>
                  </a:lnTo>
                  <a:lnTo>
                    <a:pt x="1843850" y="35217"/>
                  </a:lnTo>
                  <a:lnTo>
                    <a:pt x="0" y="35217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843850" cy="73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295124" y="3058219"/>
            <a:ext cx="335532" cy="299993"/>
            <a:chOff x="0" y="0"/>
            <a:chExt cx="247405" cy="22120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295124" y="5652150"/>
            <a:ext cx="335532" cy="299993"/>
            <a:chOff x="0" y="0"/>
            <a:chExt cx="247405" cy="2212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295124" y="6850620"/>
            <a:ext cx="335532" cy="299993"/>
            <a:chOff x="0" y="0"/>
            <a:chExt cx="247405" cy="22120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sp>
        <p:nvSpPr>
          <p:cNvPr id="21" name="Freeform 21"/>
          <p:cNvSpPr/>
          <p:nvPr/>
        </p:nvSpPr>
        <p:spPr>
          <a:xfrm>
            <a:off x="11993245" y="2026920"/>
            <a:ext cx="4641215" cy="7819390"/>
          </a:xfrm>
          <a:custGeom>
            <a:avLst/>
            <a:gdLst/>
            <a:ahLst/>
            <a:cxnLst/>
            <a:rect l="l" t="t" r="r" b="b"/>
            <a:pathLst>
              <a:path w="3130769" h="6189071">
                <a:moveTo>
                  <a:pt x="0" y="0"/>
                </a:moveTo>
                <a:lnTo>
                  <a:pt x="3130769" y="0"/>
                </a:lnTo>
                <a:lnTo>
                  <a:pt x="3130769" y="6189072"/>
                </a:lnTo>
                <a:lnTo>
                  <a:pt x="0" y="618907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28699" r="-132274" b="-2712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28700" y="2877244"/>
            <a:ext cx="10933521" cy="385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70"/>
              </a:lnSpc>
            </a:pPr>
            <a:r>
              <a:rPr lang="en-US" sz="36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Consistent:</a:t>
            </a:r>
            <a:endParaRPr lang="en-US" sz="369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97560" lvl="1" indent="-398780" algn="just">
              <a:lnSpc>
                <a:spcPts val="5170"/>
              </a:lnSpc>
              <a:buFont typeface="Arial" panose="020B0604020202020204"/>
              <a:buChar char="•"/>
            </a:pPr>
            <a:r>
              <a:rPr lang="en-US" sz="36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Col</a:t>
            </a:r>
            <a:r>
              <a:rPr lang="en-US" sz="36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ors</a:t>
            </a:r>
            <a:endParaRPr lang="en-US" sz="369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97560" lvl="1" indent="-398780" algn="just">
              <a:lnSpc>
                <a:spcPts val="5170"/>
              </a:lnSpc>
              <a:buFont typeface="Arial" panose="020B0604020202020204"/>
              <a:buChar char="•"/>
            </a:pPr>
            <a:r>
              <a:rPr lang="en-US" sz="36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Icons</a:t>
            </a:r>
            <a:endParaRPr lang="en-US" sz="369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97560" lvl="1" indent="-398780" algn="just">
              <a:lnSpc>
                <a:spcPts val="5170"/>
              </a:lnSpc>
              <a:buFont typeface="Arial" panose="020B0604020202020204"/>
              <a:buChar char="•"/>
            </a:pPr>
            <a:r>
              <a:rPr lang="en-US" sz="36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Lay</a:t>
            </a:r>
            <a:r>
              <a:rPr lang="en-US" sz="36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out</a:t>
            </a:r>
            <a:endParaRPr lang="en-US" sz="369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170"/>
              </a:lnSpc>
            </a:pPr>
            <a:r>
              <a:rPr lang="en-US" sz="36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Reduces navigation errors</a:t>
            </a:r>
            <a:endParaRPr lang="en-US" sz="369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170"/>
              </a:lnSpc>
              <a:spcBef>
                <a:spcPct val="0"/>
              </a:spcBef>
            </a:pPr>
          </a:p>
        </p:txBody>
      </p:sp>
      <p:sp>
        <p:nvSpPr>
          <p:cNvPr id="23" name="TextBox 23"/>
          <p:cNvSpPr txBox="1"/>
          <p:nvPr/>
        </p:nvSpPr>
        <p:spPr>
          <a:xfrm>
            <a:off x="965009" y="6669645"/>
            <a:ext cx="10933521" cy="3212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25"/>
              </a:lnSpc>
            </a:pPr>
            <a:r>
              <a:rPr lang="en-US" sz="36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Clear content structure:</a:t>
            </a:r>
            <a:endParaRPr lang="en-US" sz="366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90575" lvl="1" indent="-395605" algn="just">
              <a:lnSpc>
                <a:spcPts val="5125"/>
              </a:lnSpc>
              <a:buFont typeface="Arial" panose="020B0604020202020204"/>
              <a:buChar char="•"/>
            </a:pPr>
            <a:r>
              <a:rPr lang="en-US" sz="36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</a:t>
            </a:r>
            <a:r>
              <a:rPr lang="en-US" sz="36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ories at the</a:t>
            </a:r>
            <a:r>
              <a:rPr lang="en-US" sz="36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top</a:t>
            </a:r>
            <a:endParaRPr lang="en-US" sz="366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90575" lvl="1" indent="-395605" algn="just">
              <a:lnSpc>
                <a:spcPts val="5125"/>
              </a:lnSpc>
              <a:buFont typeface="Arial" panose="020B0604020202020204"/>
              <a:buChar char="•"/>
            </a:pPr>
            <a:r>
              <a:rPr lang="en-US" sz="36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Feed i</a:t>
            </a:r>
            <a:r>
              <a:rPr lang="en-US" sz="36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 the center</a:t>
            </a:r>
            <a:endParaRPr lang="en-US" sz="366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90575" lvl="1" indent="-395605" algn="just">
              <a:lnSpc>
                <a:spcPts val="5125"/>
              </a:lnSpc>
              <a:buFont typeface="Arial" panose="020B0604020202020204"/>
              <a:buChar char="•"/>
            </a:pPr>
            <a:r>
              <a:rPr lang="en-US" sz="36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Reels in a separate section</a:t>
            </a:r>
            <a:endParaRPr lang="en-US" sz="366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125"/>
              </a:lnSpc>
            </a:pPr>
          </a:p>
        </p:txBody>
      </p:sp>
      <p:sp>
        <p:nvSpPr>
          <p:cNvPr id="24" name="TextBox 24"/>
          <p:cNvSpPr txBox="1"/>
          <p:nvPr/>
        </p:nvSpPr>
        <p:spPr>
          <a:xfrm>
            <a:off x="295124" y="468814"/>
            <a:ext cx="2498022" cy="106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70"/>
              </a:lnSpc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cont...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433388" y="450132"/>
            <a:ext cx="13183934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2170" lvl="1" indent="0" algn="just">
              <a:lnSpc>
                <a:spcPts val="7970"/>
              </a:lnSpc>
              <a:buNone/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4. Smooth Interaction &amp; Feedback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6524920" y="1383101"/>
            <a:ext cx="7000869" cy="133713"/>
            <a:chOff x="0" y="0"/>
            <a:chExt cx="1843850" cy="352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43850" cy="35217"/>
            </a:xfrm>
            <a:custGeom>
              <a:avLst/>
              <a:gdLst/>
              <a:ahLst/>
              <a:cxnLst/>
              <a:rect l="l" t="t" r="r" b="b"/>
              <a:pathLst>
                <a:path w="1843850" h="35217">
                  <a:moveTo>
                    <a:pt x="0" y="0"/>
                  </a:moveTo>
                  <a:lnTo>
                    <a:pt x="1843850" y="0"/>
                  </a:lnTo>
                  <a:lnTo>
                    <a:pt x="1843850" y="35217"/>
                  </a:lnTo>
                  <a:lnTo>
                    <a:pt x="0" y="35217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843850" cy="73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858194"/>
            <a:ext cx="10869830" cy="5529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40"/>
              </a:lnSpc>
            </a:pPr>
            <a:r>
              <a:rPr lang="en-US" sz="45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Gestures:</a:t>
            </a:r>
            <a:endParaRPr lang="en-US" sz="45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955165" lvl="2" indent="-651510" algn="just">
              <a:lnSpc>
                <a:spcPts val="6340"/>
              </a:lnSpc>
              <a:buFont typeface="Arial" panose="020B0604020202020204"/>
              <a:buChar char="⚬"/>
            </a:pPr>
            <a:r>
              <a:rPr lang="en-US" sz="45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Double-tap to like</a:t>
            </a:r>
            <a:endParaRPr lang="en-US" sz="45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955165" lvl="2" indent="-651510" algn="just">
              <a:lnSpc>
                <a:spcPts val="6340"/>
              </a:lnSpc>
              <a:buFont typeface="Arial" panose="020B0604020202020204"/>
              <a:buChar char="⚬"/>
            </a:pPr>
            <a:r>
              <a:rPr lang="en-US" sz="45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Swipe navigation</a:t>
            </a:r>
            <a:endParaRPr lang="en-US" sz="45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6340"/>
              </a:lnSpc>
            </a:pPr>
            <a:r>
              <a:rPr lang="en-US" sz="45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Smooth animati</a:t>
            </a:r>
            <a:r>
              <a:rPr lang="en-US" sz="45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ons and transitions</a:t>
            </a:r>
            <a:endParaRPr lang="en-US" sz="45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6340"/>
              </a:lnSpc>
            </a:pPr>
            <a:r>
              <a:rPr lang="en-US" sz="45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Provides immedia</a:t>
            </a:r>
            <a:r>
              <a:rPr lang="en-US" sz="45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 fe</a:t>
            </a:r>
            <a:r>
              <a:rPr lang="en-US" sz="45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edback</a:t>
            </a:r>
            <a:endParaRPr lang="en-US" sz="45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6340"/>
              </a:lnSpc>
            </a:pPr>
            <a:r>
              <a:rPr lang="en-US" sz="45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Improves overall user satisfaction</a:t>
            </a:r>
            <a:endParaRPr lang="en-US" sz="45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6340"/>
              </a:lnSpc>
              <a:spcBef>
                <a:spcPct val="0"/>
              </a:spcBef>
            </a:pPr>
          </a:p>
        </p:txBody>
      </p:sp>
      <p:grpSp>
        <p:nvGrpSpPr>
          <p:cNvPr id="13" name="Group 13"/>
          <p:cNvGrpSpPr/>
          <p:nvPr/>
        </p:nvGrpSpPr>
        <p:grpSpPr>
          <a:xfrm rot="0">
            <a:off x="295124" y="3086794"/>
            <a:ext cx="335532" cy="299993"/>
            <a:chOff x="0" y="0"/>
            <a:chExt cx="247405" cy="22120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295124" y="5547375"/>
            <a:ext cx="335532" cy="299993"/>
            <a:chOff x="0" y="0"/>
            <a:chExt cx="247405" cy="22120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 rot="0">
            <a:off x="295124" y="6330348"/>
            <a:ext cx="335532" cy="299993"/>
            <a:chOff x="0" y="0"/>
            <a:chExt cx="247405" cy="22120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22" name="Group 22"/>
          <p:cNvGrpSpPr/>
          <p:nvPr/>
        </p:nvGrpSpPr>
        <p:grpSpPr>
          <a:xfrm rot="0">
            <a:off x="295124" y="7011341"/>
            <a:ext cx="335532" cy="299993"/>
            <a:chOff x="0" y="0"/>
            <a:chExt cx="247405" cy="22120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sp>
        <p:nvSpPr>
          <p:cNvPr id="25" name="Freeform 25"/>
          <p:cNvSpPr/>
          <p:nvPr/>
        </p:nvSpPr>
        <p:spPr>
          <a:xfrm>
            <a:off x="11260993" y="2182446"/>
            <a:ext cx="5681187" cy="7329846"/>
          </a:xfrm>
          <a:custGeom>
            <a:avLst/>
            <a:gdLst/>
            <a:ahLst/>
            <a:cxnLst/>
            <a:rect l="l" t="t" r="r" b="b"/>
            <a:pathLst>
              <a:path w="5681187" h="7329846">
                <a:moveTo>
                  <a:pt x="0" y="0"/>
                </a:moveTo>
                <a:lnTo>
                  <a:pt x="5681188" y="0"/>
                </a:lnTo>
                <a:lnTo>
                  <a:pt x="5681188" y="7329845"/>
                </a:lnTo>
                <a:lnTo>
                  <a:pt x="0" y="732984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295124" y="468814"/>
            <a:ext cx="2498022" cy="106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70"/>
              </a:lnSpc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cont...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0" y="495178"/>
            <a:ext cx="13183934" cy="106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70"/>
              </a:lnSpc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         B. Weak Sides of Instagram UI 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2672306" y="1428147"/>
            <a:ext cx="7000869" cy="133713"/>
            <a:chOff x="0" y="0"/>
            <a:chExt cx="1843850" cy="352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43850" cy="35217"/>
            </a:xfrm>
            <a:custGeom>
              <a:avLst/>
              <a:gdLst/>
              <a:ahLst/>
              <a:cxnLst/>
              <a:rect l="l" t="t" r="r" b="b"/>
              <a:pathLst>
                <a:path w="1843850" h="35217">
                  <a:moveTo>
                    <a:pt x="0" y="0"/>
                  </a:moveTo>
                  <a:lnTo>
                    <a:pt x="1843850" y="0"/>
                  </a:lnTo>
                  <a:lnTo>
                    <a:pt x="1843850" y="35217"/>
                  </a:lnTo>
                  <a:lnTo>
                    <a:pt x="0" y="35217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843850" cy="73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3250531"/>
            <a:ext cx="12077863" cy="7036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45"/>
              </a:lnSpc>
            </a:pPr>
          </a:p>
          <a:p>
            <a:pPr algn="just">
              <a:lnSpc>
                <a:spcPts val="7045"/>
              </a:lnSpc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Feed mixes: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72335" lvl="2" indent="-723900" algn="just">
              <a:lnSpc>
                <a:spcPts val="7045"/>
              </a:lnSpc>
              <a:buFont typeface="Arial" panose="020B0604020202020204"/>
              <a:buChar char="⚬"/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Follo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wed content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72335" lvl="2" indent="-723900" algn="just">
              <a:lnSpc>
                <a:spcPts val="7045"/>
              </a:lnSpc>
              <a:buFont typeface="Arial" panose="020B0604020202020204"/>
              <a:buChar char="⚬"/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Suggested posts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7045"/>
              </a:lnSpc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ow user control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7045"/>
              </a:lnSpc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default chronological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fe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ed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7045"/>
              </a:lnSpc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Can frust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rate some users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7045"/>
              </a:lnSpc>
              <a:spcBef>
                <a:spcPct val="0"/>
              </a:spcBef>
            </a:pPr>
          </a:p>
        </p:txBody>
      </p:sp>
      <p:grpSp>
        <p:nvGrpSpPr>
          <p:cNvPr id="13" name="Group 13"/>
          <p:cNvGrpSpPr/>
          <p:nvPr/>
        </p:nvGrpSpPr>
        <p:grpSpPr>
          <a:xfrm rot="0">
            <a:off x="295124" y="4410555"/>
            <a:ext cx="335532" cy="299993"/>
            <a:chOff x="0" y="0"/>
            <a:chExt cx="247405" cy="22120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295124" y="8088134"/>
            <a:ext cx="335532" cy="299993"/>
            <a:chOff x="0" y="0"/>
            <a:chExt cx="247405" cy="22120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 rot="0">
            <a:off x="295124" y="7101323"/>
            <a:ext cx="335532" cy="299993"/>
            <a:chOff x="0" y="0"/>
            <a:chExt cx="247405" cy="22120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22" name="Group 22"/>
          <p:cNvGrpSpPr/>
          <p:nvPr/>
        </p:nvGrpSpPr>
        <p:grpSpPr>
          <a:xfrm rot="0">
            <a:off x="295124" y="8901157"/>
            <a:ext cx="335532" cy="299993"/>
            <a:chOff x="0" y="0"/>
            <a:chExt cx="247405" cy="22120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sp>
        <p:nvSpPr>
          <p:cNvPr id="25" name="Freeform 25"/>
          <p:cNvSpPr/>
          <p:nvPr/>
        </p:nvSpPr>
        <p:spPr>
          <a:xfrm>
            <a:off x="12606786" y="3425364"/>
            <a:ext cx="2811861" cy="5775786"/>
          </a:xfrm>
          <a:custGeom>
            <a:avLst/>
            <a:gdLst/>
            <a:ahLst/>
            <a:cxnLst/>
            <a:rect l="l" t="t" r="r" b="b"/>
            <a:pathLst>
              <a:path w="2811861" h="5775786">
                <a:moveTo>
                  <a:pt x="0" y="0"/>
                </a:moveTo>
                <a:lnTo>
                  <a:pt x="2811861" y="0"/>
                </a:lnTo>
                <a:lnTo>
                  <a:pt x="2811861" y="5775786"/>
                </a:lnTo>
                <a:lnTo>
                  <a:pt x="0" y="577578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12779" r="-108798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-412475" y="2519541"/>
            <a:ext cx="11179132" cy="106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03705" lvl="1" indent="-851535" algn="just">
              <a:lnSpc>
                <a:spcPts val="7970"/>
              </a:lnSpc>
              <a:buAutoNum type="arabicPeriod"/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Algorithm-Controlled Feed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0741977" y="2379807"/>
            <a:ext cx="7024050" cy="5673631"/>
            <a:chOff x="0" y="0"/>
            <a:chExt cx="9365400" cy="756484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1"/>
            <a:srcRect l="1746" r="1746"/>
            <a:stretch>
              <a:fillRect/>
            </a:stretch>
          </p:blipFill>
          <p:spPr>
            <a:xfrm>
              <a:off x="0" y="0"/>
              <a:ext cx="9365400" cy="7564841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3230233" y="361465"/>
            <a:ext cx="13183934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2170" lvl="1" indent="0" algn="just">
              <a:lnSpc>
                <a:spcPts val="7970"/>
              </a:lnSpc>
              <a:buNone/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2. Frequent Interface Changes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6264593" y="1294434"/>
            <a:ext cx="7000869" cy="133713"/>
            <a:chOff x="0" y="0"/>
            <a:chExt cx="1843850" cy="352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43850" cy="35217"/>
            </a:xfrm>
            <a:custGeom>
              <a:avLst/>
              <a:gdLst/>
              <a:ahLst/>
              <a:cxnLst/>
              <a:rect l="l" t="t" r="r" b="b"/>
              <a:pathLst>
                <a:path w="1843850" h="35217">
                  <a:moveTo>
                    <a:pt x="0" y="0"/>
                  </a:moveTo>
                  <a:lnTo>
                    <a:pt x="1843850" y="0"/>
                  </a:lnTo>
                  <a:lnTo>
                    <a:pt x="1843850" y="35217"/>
                  </a:lnTo>
                  <a:lnTo>
                    <a:pt x="0" y="35217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43850" cy="73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864688"/>
            <a:ext cx="11267874" cy="7036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45"/>
              </a:lnSpc>
            </a:pPr>
          </a:p>
          <a:p>
            <a:pPr algn="just">
              <a:lnSpc>
                <a:spcPts val="7045"/>
              </a:lnSpc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Regu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lar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UI updates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7045"/>
              </a:lnSpc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Feat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ures change position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7045"/>
              </a:lnSpc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onfusing for: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72335" lvl="2" indent="-723900" algn="just">
              <a:lnSpc>
                <a:spcPts val="7045"/>
              </a:lnSpc>
              <a:buFont typeface="Arial" panose="020B0604020202020204"/>
              <a:buChar char="⚬"/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Ol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der users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72335" lvl="2" indent="-723900" algn="just">
              <a:lnSpc>
                <a:spcPts val="7045"/>
              </a:lnSpc>
              <a:buFont typeface="Arial" panose="020B0604020202020204"/>
              <a:buChar char="⚬"/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Less tech-savvy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us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rs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7045"/>
              </a:lnSpc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reases learning difficulty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7045"/>
              </a:lnSpc>
              <a:spcBef>
                <a:spcPct val="0"/>
              </a:spcBef>
            </a:pPr>
          </a:p>
        </p:txBody>
      </p:sp>
      <p:grpSp>
        <p:nvGrpSpPr>
          <p:cNvPr id="15" name="Group 15"/>
          <p:cNvGrpSpPr/>
          <p:nvPr/>
        </p:nvGrpSpPr>
        <p:grpSpPr>
          <a:xfrm rot="0">
            <a:off x="295124" y="3096542"/>
            <a:ext cx="335532" cy="299993"/>
            <a:chOff x="0" y="0"/>
            <a:chExt cx="247405" cy="2212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295124" y="7517955"/>
            <a:ext cx="335532" cy="299993"/>
            <a:chOff x="0" y="0"/>
            <a:chExt cx="247405" cy="22120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295124" y="4007036"/>
            <a:ext cx="335532" cy="299993"/>
            <a:chOff x="0" y="0"/>
            <a:chExt cx="247405" cy="22120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24" name="Group 24"/>
          <p:cNvGrpSpPr/>
          <p:nvPr/>
        </p:nvGrpSpPr>
        <p:grpSpPr>
          <a:xfrm rot="0">
            <a:off x="295124" y="4916629"/>
            <a:ext cx="335532" cy="299993"/>
            <a:chOff x="0" y="0"/>
            <a:chExt cx="247405" cy="22120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95124" y="468814"/>
            <a:ext cx="2498022" cy="106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70"/>
              </a:lnSpc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cont...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7227864" y="0"/>
            <a:ext cx="1028700" cy="1028700"/>
            <a:chOff x="0" y="0"/>
            <a:chExt cx="27093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2181067" y="2098912"/>
            <a:ext cx="6106933" cy="6289216"/>
            <a:chOff x="0" y="0"/>
            <a:chExt cx="8142578" cy="838562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1"/>
            <a:srcRect l="17691" r="17691"/>
            <a:stretch>
              <a:fillRect/>
            </a:stretch>
          </p:blipFill>
          <p:spPr>
            <a:xfrm>
              <a:off x="0" y="0"/>
              <a:ext cx="8142578" cy="8385621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3230233" y="361465"/>
            <a:ext cx="13183934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2170" lvl="1" indent="0" algn="just">
              <a:lnSpc>
                <a:spcPts val="7970"/>
              </a:lnSpc>
              <a:buNone/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3. Overemphasis on Reels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5180197" y="1163855"/>
            <a:ext cx="7000869" cy="133713"/>
            <a:chOff x="0" y="0"/>
            <a:chExt cx="1843850" cy="352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43850" cy="35217"/>
            </a:xfrm>
            <a:custGeom>
              <a:avLst/>
              <a:gdLst/>
              <a:ahLst/>
              <a:cxnLst/>
              <a:rect l="l" t="t" r="r" b="b"/>
              <a:pathLst>
                <a:path w="1843850" h="35217">
                  <a:moveTo>
                    <a:pt x="0" y="0"/>
                  </a:moveTo>
                  <a:lnTo>
                    <a:pt x="1843850" y="0"/>
                  </a:lnTo>
                  <a:lnTo>
                    <a:pt x="1843850" y="35217"/>
                  </a:lnTo>
                  <a:lnTo>
                    <a:pt x="0" y="35217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43850" cy="73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864688"/>
            <a:ext cx="10869830" cy="7036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45"/>
              </a:lnSpc>
            </a:pPr>
          </a:p>
          <a:p>
            <a:pPr algn="just">
              <a:lnSpc>
                <a:spcPts val="7045"/>
              </a:lnSpc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eels a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 heavily promoted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7045"/>
              </a:lnSpc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Traditional ph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oto posts get l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ess visibility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7045"/>
              </a:lnSpc>
            </a:pP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Photo-focused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us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rs m</a:t>
            </a:r>
            <a:r>
              <a:rPr lang="en-US" sz="50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ay feel ignored</a:t>
            </a:r>
            <a:endParaRPr lang="en-US" sz="503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7045"/>
              </a:lnSpc>
            </a:pPr>
          </a:p>
          <a:p>
            <a:pPr algn="l">
              <a:lnSpc>
                <a:spcPts val="7045"/>
              </a:lnSpc>
              <a:spcBef>
                <a:spcPct val="0"/>
              </a:spcBef>
            </a:pPr>
          </a:p>
        </p:txBody>
      </p:sp>
      <p:grpSp>
        <p:nvGrpSpPr>
          <p:cNvPr id="15" name="Group 15"/>
          <p:cNvGrpSpPr/>
          <p:nvPr/>
        </p:nvGrpSpPr>
        <p:grpSpPr>
          <a:xfrm rot="0">
            <a:off x="295124" y="3096542"/>
            <a:ext cx="335532" cy="299993"/>
            <a:chOff x="0" y="0"/>
            <a:chExt cx="247405" cy="2212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295124" y="4007036"/>
            <a:ext cx="335532" cy="299993"/>
            <a:chOff x="0" y="0"/>
            <a:chExt cx="247405" cy="22120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295124" y="5743414"/>
            <a:ext cx="335532" cy="299993"/>
            <a:chOff x="0" y="0"/>
            <a:chExt cx="247405" cy="22120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95124" y="468814"/>
            <a:ext cx="2498022" cy="106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70"/>
              </a:lnSpc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cont...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289073" y="468814"/>
            <a:ext cx="14466154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2170" lvl="1" indent="0" algn="just">
              <a:lnSpc>
                <a:spcPts val="7970"/>
              </a:lnSpc>
              <a:buNone/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4. Limited Customization &amp;  Accessibility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4883005" y="1317008"/>
            <a:ext cx="8738757" cy="218488"/>
            <a:chOff x="0" y="0"/>
            <a:chExt cx="2301566" cy="575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01566" cy="57544"/>
            </a:xfrm>
            <a:custGeom>
              <a:avLst/>
              <a:gdLst/>
              <a:ahLst/>
              <a:cxnLst/>
              <a:rect l="l" t="t" r="r" b="b"/>
              <a:pathLst>
                <a:path w="2301566" h="57544">
                  <a:moveTo>
                    <a:pt x="0" y="0"/>
                  </a:moveTo>
                  <a:lnTo>
                    <a:pt x="2301566" y="0"/>
                  </a:lnTo>
                  <a:lnTo>
                    <a:pt x="2301566" y="57544"/>
                  </a:lnTo>
                  <a:lnTo>
                    <a:pt x="0" y="57544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301566" cy="956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295124" y="3096542"/>
            <a:ext cx="335532" cy="299993"/>
            <a:chOff x="0" y="0"/>
            <a:chExt cx="247405" cy="22120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295124" y="5743414"/>
            <a:ext cx="335532" cy="299993"/>
            <a:chOff x="0" y="0"/>
            <a:chExt cx="247405" cy="2212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295124" y="6631129"/>
            <a:ext cx="335532" cy="299993"/>
            <a:chOff x="0" y="0"/>
            <a:chExt cx="247405" cy="22120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1894349"/>
            <a:ext cx="11828019" cy="6145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35"/>
              </a:lnSpc>
            </a:pPr>
          </a:p>
          <a:p>
            <a:pPr algn="just">
              <a:lnSpc>
                <a:spcPts val="7035"/>
              </a:lnSpc>
            </a:pPr>
            <a:r>
              <a:rPr lang="en-US" sz="5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Limited control over:</a:t>
            </a:r>
            <a:endParaRPr lang="en-US" sz="50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69795" lvl="2" indent="-723265" algn="just">
              <a:lnSpc>
                <a:spcPts val="7035"/>
              </a:lnSpc>
              <a:buFont typeface="Arial" panose="020B0604020202020204"/>
              <a:buChar char="⚬"/>
            </a:pPr>
            <a:r>
              <a:rPr lang="en-US" sz="5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Fee</a:t>
            </a:r>
            <a:r>
              <a:rPr lang="en-US" sz="5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 order</a:t>
            </a:r>
            <a:endParaRPr lang="en-US" sz="50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69795" lvl="2" indent="-723265" algn="just">
              <a:lnSpc>
                <a:spcPts val="7035"/>
              </a:lnSpc>
              <a:buFont typeface="Arial" panose="020B0604020202020204"/>
              <a:buChar char="⚬"/>
            </a:pPr>
            <a:r>
              <a:rPr lang="en-US" sz="5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Lay</a:t>
            </a:r>
            <a:r>
              <a:rPr lang="en-US" sz="5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out preferenc</a:t>
            </a:r>
            <a:r>
              <a:rPr lang="en-US" sz="5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</a:t>
            </a:r>
            <a:endParaRPr lang="en-US" sz="50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7035"/>
              </a:lnSpc>
            </a:pPr>
            <a:r>
              <a:rPr lang="en-US" sz="5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Accessibility feat</a:t>
            </a:r>
            <a:r>
              <a:rPr lang="en-US" sz="5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ur</a:t>
            </a:r>
            <a:r>
              <a:rPr lang="en-US" sz="5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5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r>
              <a:rPr lang="en-US" sz="5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are limited</a:t>
            </a:r>
            <a:endParaRPr lang="en-US" sz="50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7035"/>
              </a:lnSpc>
            </a:pPr>
            <a:r>
              <a:rPr lang="en-US" sz="50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Less friendly for users with disabilities</a:t>
            </a:r>
            <a:endParaRPr lang="en-US" sz="50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7035"/>
              </a:lnSpc>
              <a:spcBef>
                <a:spcPct val="0"/>
              </a:spcBef>
            </a:pPr>
          </a:p>
        </p:txBody>
      </p:sp>
      <p:sp>
        <p:nvSpPr>
          <p:cNvPr id="22" name="Freeform 22"/>
          <p:cNvSpPr/>
          <p:nvPr/>
        </p:nvSpPr>
        <p:spPr>
          <a:xfrm>
            <a:off x="12611553" y="1999124"/>
            <a:ext cx="5022821" cy="7766374"/>
          </a:xfrm>
          <a:custGeom>
            <a:avLst/>
            <a:gdLst/>
            <a:ahLst/>
            <a:cxnLst/>
            <a:rect l="l" t="t" r="r" b="b"/>
            <a:pathLst>
              <a:path w="5022821" h="7766374">
                <a:moveTo>
                  <a:pt x="0" y="0"/>
                </a:moveTo>
                <a:lnTo>
                  <a:pt x="5022821" y="0"/>
                </a:lnTo>
                <a:lnTo>
                  <a:pt x="5022821" y="7766374"/>
                </a:lnTo>
                <a:lnTo>
                  <a:pt x="0" y="776637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625" r="-1625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295124" y="468814"/>
            <a:ext cx="2498022" cy="106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70"/>
              </a:lnSpc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cont...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19307" y="250326"/>
            <a:ext cx="14466154" cy="106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70"/>
              </a:lnSpc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c.  Comparison with Other Platforms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4331968" y="1028700"/>
            <a:ext cx="8738757" cy="218488"/>
            <a:chOff x="0" y="0"/>
            <a:chExt cx="2301566" cy="575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01566" cy="57544"/>
            </a:xfrm>
            <a:custGeom>
              <a:avLst/>
              <a:gdLst/>
              <a:ahLst/>
              <a:cxnLst/>
              <a:rect l="l" t="t" r="r" b="b"/>
              <a:pathLst>
                <a:path w="2301566" h="57544">
                  <a:moveTo>
                    <a:pt x="0" y="0"/>
                  </a:moveTo>
                  <a:lnTo>
                    <a:pt x="2301566" y="0"/>
                  </a:lnTo>
                  <a:lnTo>
                    <a:pt x="2301566" y="57544"/>
                  </a:lnTo>
                  <a:lnTo>
                    <a:pt x="0" y="57544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301566" cy="956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313275"/>
            <a:ext cx="10855175" cy="8549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Instagram: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Simple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Visual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Less cluttered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6855"/>
              </a:lnSpc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Facebook: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Feature-heavy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More complex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More user control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6855"/>
              </a:lnSpc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Instagram is easier to navigate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6855"/>
              </a:lnSpc>
              <a:spcBef>
                <a:spcPct val="0"/>
              </a:spcBef>
            </a:pPr>
          </a:p>
        </p:txBody>
      </p:sp>
      <p:grpSp>
        <p:nvGrpSpPr>
          <p:cNvPr id="13" name="Group 13"/>
          <p:cNvGrpSpPr/>
          <p:nvPr/>
        </p:nvGrpSpPr>
        <p:grpSpPr>
          <a:xfrm rot="0">
            <a:off x="295124" y="2648867"/>
            <a:ext cx="335532" cy="299993"/>
            <a:chOff x="0" y="0"/>
            <a:chExt cx="247405" cy="22120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295124" y="6047779"/>
            <a:ext cx="335532" cy="299993"/>
            <a:chOff x="0" y="0"/>
            <a:chExt cx="247405" cy="22120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 rot="0">
            <a:off x="93308" y="9181133"/>
            <a:ext cx="739163" cy="831111"/>
            <a:chOff x="0" y="0"/>
            <a:chExt cx="434946" cy="489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34946" cy="489050"/>
            </a:xfrm>
            <a:custGeom>
              <a:avLst/>
              <a:gdLst/>
              <a:ahLst/>
              <a:cxnLst/>
              <a:rect l="l" t="t" r="r" b="b"/>
              <a:pathLst>
                <a:path w="434946" h="489050">
                  <a:moveTo>
                    <a:pt x="217473" y="0"/>
                  </a:moveTo>
                  <a:lnTo>
                    <a:pt x="434946" y="244525"/>
                  </a:lnTo>
                  <a:lnTo>
                    <a:pt x="217473" y="489050"/>
                  </a:lnTo>
                  <a:lnTo>
                    <a:pt x="0" y="244525"/>
                  </a:lnTo>
                  <a:lnTo>
                    <a:pt x="217473" y="0"/>
                  </a:lnTo>
                  <a:close/>
                </a:path>
              </a:pathLst>
            </a:custGeom>
            <a:solidFill>
              <a:srgbClr val="449137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4756" y="45956"/>
              <a:ext cx="285433" cy="35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2" name="Freeform 22"/>
          <p:cNvSpPr/>
          <p:nvPr/>
        </p:nvSpPr>
        <p:spPr>
          <a:xfrm>
            <a:off x="11168647" y="2505992"/>
            <a:ext cx="5625854" cy="3333126"/>
          </a:xfrm>
          <a:custGeom>
            <a:avLst/>
            <a:gdLst/>
            <a:ahLst/>
            <a:cxnLst/>
            <a:rect l="l" t="t" r="r" b="b"/>
            <a:pathLst>
              <a:path w="5625854" h="3333126">
                <a:moveTo>
                  <a:pt x="0" y="0"/>
                </a:moveTo>
                <a:lnTo>
                  <a:pt x="5625854" y="0"/>
                </a:lnTo>
                <a:lnTo>
                  <a:pt x="5625854" y="3333126"/>
                </a:lnTo>
                <a:lnTo>
                  <a:pt x="0" y="333312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1168647" y="6197776"/>
            <a:ext cx="5625854" cy="3964464"/>
          </a:xfrm>
          <a:custGeom>
            <a:avLst/>
            <a:gdLst/>
            <a:ahLst/>
            <a:cxnLst/>
            <a:rect l="l" t="t" r="r" b="b"/>
            <a:pathLst>
              <a:path w="5625854" h="3964464">
                <a:moveTo>
                  <a:pt x="0" y="0"/>
                </a:moveTo>
                <a:lnTo>
                  <a:pt x="5625854" y="0"/>
                </a:lnTo>
                <a:lnTo>
                  <a:pt x="5625854" y="3964464"/>
                </a:lnTo>
                <a:lnTo>
                  <a:pt x="0" y="3964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953" b="-20953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462890" y="1529504"/>
            <a:ext cx="13149240" cy="976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45"/>
              </a:lnSpc>
            </a:pPr>
            <a:r>
              <a:rPr lang="en-US" sz="717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A. Instagram vs Facebook</a:t>
            </a:r>
            <a:endParaRPr lang="en-US" sz="717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4906405" y="1477672"/>
            <a:ext cx="5220594" cy="217175"/>
            <a:chOff x="0" y="0"/>
            <a:chExt cx="1374971" cy="571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4971" cy="57198"/>
            </a:xfrm>
            <a:custGeom>
              <a:avLst/>
              <a:gdLst/>
              <a:ahLst/>
              <a:cxnLst/>
              <a:rect l="l" t="t" r="r" b="b"/>
              <a:pathLst>
                <a:path w="1374971" h="57198">
                  <a:moveTo>
                    <a:pt x="0" y="0"/>
                  </a:moveTo>
                  <a:lnTo>
                    <a:pt x="1374971" y="0"/>
                  </a:lnTo>
                  <a:lnTo>
                    <a:pt x="1374971" y="57198"/>
                  </a:lnTo>
                  <a:lnTo>
                    <a:pt x="0" y="57198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74971" cy="95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1958739"/>
            <a:ext cx="10855175" cy="8549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ikTok: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Full-screen videos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Very immersive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Less structured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6855"/>
              </a:lnSpc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</a:t>
            </a: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agram: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Mix of photos, stories, and reels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Better content variety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Clearer navigation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6855"/>
              </a:lnSpc>
              <a:spcBef>
                <a:spcPct val="0"/>
              </a:spcBef>
            </a:pPr>
          </a:p>
        </p:txBody>
      </p:sp>
      <p:grpSp>
        <p:nvGrpSpPr>
          <p:cNvPr id="12" name="Group 12"/>
          <p:cNvGrpSpPr/>
          <p:nvPr/>
        </p:nvGrpSpPr>
        <p:grpSpPr>
          <a:xfrm rot="0">
            <a:off x="295124" y="2360730"/>
            <a:ext cx="335532" cy="299993"/>
            <a:chOff x="0" y="0"/>
            <a:chExt cx="247405" cy="22120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295124" y="5743414"/>
            <a:ext cx="335532" cy="299993"/>
            <a:chOff x="0" y="0"/>
            <a:chExt cx="247405" cy="2212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sp>
        <p:nvSpPr>
          <p:cNvPr id="18" name="Freeform 18"/>
          <p:cNvSpPr/>
          <p:nvPr/>
        </p:nvSpPr>
        <p:spPr>
          <a:xfrm>
            <a:off x="13596991" y="777230"/>
            <a:ext cx="2280157" cy="4366270"/>
          </a:xfrm>
          <a:custGeom>
            <a:avLst/>
            <a:gdLst/>
            <a:ahLst/>
            <a:cxnLst/>
            <a:rect l="l" t="t" r="r" b="b"/>
            <a:pathLst>
              <a:path w="2280157" h="4366270">
                <a:moveTo>
                  <a:pt x="0" y="0"/>
                </a:moveTo>
                <a:lnTo>
                  <a:pt x="2280157" y="0"/>
                </a:lnTo>
                <a:lnTo>
                  <a:pt x="2280157" y="4366270"/>
                </a:lnTo>
                <a:lnTo>
                  <a:pt x="0" y="436627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32493" t="-11183" r="-35229" b="-11441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4369041" y="5558308"/>
            <a:ext cx="2129169" cy="4392823"/>
          </a:xfrm>
          <a:custGeom>
            <a:avLst/>
            <a:gdLst/>
            <a:ahLst/>
            <a:cxnLst/>
            <a:rect l="l" t="t" r="r" b="b"/>
            <a:pathLst>
              <a:path w="2129169" h="4392823">
                <a:moveTo>
                  <a:pt x="0" y="0"/>
                </a:moveTo>
                <a:lnTo>
                  <a:pt x="2129169" y="0"/>
                </a:lnTo>
                <a:lnTo>
                  <a:pt x="2129169" y="4392823"/>
                </a:lnTo>
                <a:lnTo>
                  <a:pt x="0" y="4392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5535" t="-13413" r="-144983" b="-12545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951594" y="767127"/>
            <a:ext cx="7130215" cy="976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45"/>
              </a:lnSpc>
            </a:pPr>
            <a:r>
              <a:rPr lang="en-US" sz="717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B. Instagram vs TikTok</a:t>
            </a:r>
            <a:endParaRPr lang="en-US" sz="717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95124" y="468814"/>
            <a:ext cx="2498022" cy="106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70"/>
              </a:lnSpc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cont...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4906405" y="1477672"/>
            <a:ext cx="5220594" cy="217175"/>
            <a:chOff x="0" y="0"/>
            <a:chExt cx="1374971" cy="571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4971" cy="57198"/>
            </a:xfrm>
            <a:custGeom>
              <a:avLst/>
              <a:gdLst/>
              <a:ahLst/>
              <a:cxnLst/>
              <a:rect l="l" t="t" r="r" b="b"/>
              <a:pathLst>
                <a:path w="1374971" h="57198">
                  <a:moveTo>
                    <a:pt x="0" y="0"/>
                  </a:moveTo>
                  <a:lnTo>
                    <a:pt x="1374971" y="0"/>
                  </a:lnTo>
                  <a:lnTo>
                    <a:pt x="1374971" y="57198"/>
                  </a:lnTo>
                  <a:lnTo>
                    <a:pt x="0" y="57198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74971" cy="95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1189264"/>
            <a:ext cx="10855175" cy="8549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5"/>
              </a:lnSpc>
            </a:pPr>
          </a:p>
          <a:p>
            <a:pPr algn="l">
              <a:lnSpc>
                <a:spcPts val="6855"/>
              </a:lnSpc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</a:t>
            </a: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ouTube: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Long</a:t>
            </a: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-form videos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etailed information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Compl</a:t>
            </a: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 interface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6855"/>
              </a:lnSpc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</a:t>
            </a: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agram: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hort content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aster interaction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Lighter UI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6855"/>
              </a:lnSpc>
              <a:spcBef>
                <a:spcPct val="0"/>
              </a:spcBef>
            </a:pPr>
          </a:p>
        </p:txBody>
      </p:sp>
      <p:grpSp>
        <p:nvGrpSpPr>
          <p:cNvPr id="12" name="Group 12"/>
          <p:cNvGrpSpPr/>
          <p:nvPr/>
        </p:nvGrpSpPr>
        <p:grpSpPr>
          <a:xfrm rot="0">
            <a:off x="295124" y="2360730"/>
            <a:ext cx="335532" cy="299993"/>
            <a:chOff x="0" y="0"/>
            <a:chExt cx="247405" cy="22120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295124" y="5743414"/>
            <a:ext cx="335532" cy="299993"/>
            <a:chOff x="0" y="0"/>
            <a:chExt cx="247405" cy="2212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sp>
        <p:nvSpPr>
          <p:cNvPr id="18" name="Freeform 18"/>
          <p:cNvSpPr/>
          <p:nvPr/>
        </p:nvSpPr>
        <p:spPr>
          <a:xfrm>
            <a:off x="10007603" y="2191291"/>
            <a:ext cx="8280397" cy="2952209"/>
          </a:xfrm>
          <a:custGeom>
            <a:avLst/>
            <a:gdLst/>
            <a:ahLst/>
            <a:cxnLst/>
            <a:rect l="l" t="t" r="r" b="b"/>
            <a:pathLst>
              <a:path w="8280397" h="2952209">
                <a:moveTo>
                  <a:pt x="0" y="0"/>
                </a:moveTo>
                <a:lnTo>
                  <a:pt x="8280397" y="0"/>
                </a:lnTo>
                <a:lnTo>
                  <a:pt x="8280397" y="2952209"/>
                </a:lnTo>
                <a:lnTo>
                  <a:pt x="0" y="295220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8022" b="-6432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126999" y="5335012"/>
            <a:ext cx="7954142" cy="4821409"/>
          </a:xfrm>
          <a:custGeom>
            <a:avLst/>
            <a:gdLst/>
            <a:ahLst/>
            <a:cxnLst/>
            <a:rect l="l" t="t" r="r" b="b"/>
            <a:pathLst>
              <a:path w="7954142" h="4821409">
                <a:moveTo>
                  <a:pt x="0" y="0"/>
                </a:moveTo>
                <a:lnTo>
                  <a:pt x="7954142" y="0"/>
                </a:lnTo>
                <a:lnTo>
                  <a:pt x="7954142" y="4821409"/>
                </a:lnTo>
                <a:lnTo>
                  <a:pt x="0" y="48214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891" b="-4891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951594" y="767127"/>
            <a:ext cx="7638865" cy="976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45"/>
              </a:lnSpc>
            </a:pPr>
            <a:r>
              <a:rPr lang="en-US" sz="717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c. Instagram vs YouTube</a:t>
            </a:r>
            <a:endParaRPr lang="en-US" sz="717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95124" y="468814"/>
            <a:ext cx="2498022" cy="106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70"/>
              </a:lnSpc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cont...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4906405" y="1477672"/>
            <a:ext cx="5220594" cy="217175"/>
            <a:chOff x="0" y="0"/>
            <a:chExt cx="1374971" cy="571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4971" cy="57198"/>
            </a:xfrm>
            <a:custGeom>
              <a:avLst/>
              <a:gdLst/>
              <a:ahLst/>
              <a:cxnLst/>
              <a:rect l="l" t="t" r="r" b="b"/>
              <a:pathLst>
                <a:path w="1374971" h="57198">
                  <a:moveTo>
                    <a:pt x="0" y="0"/>
                  </a:moveTo>
                  <a:lnTo>
                    <a:pt x="1374971" y="0"/>
                  </a:lnTo>
                  <a:lnTo>
                    <a:pt x="1374971" y="57198"/>
                  </a:lnTo>
                  <a:lnTo>
                    <a:pt x="0" y="57198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74971" cy="95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1189264"/>
            <a:ext cx="10855175" cy="8549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5"/>
              </a:lnSpc>
            </a:pPr>
          </a:p>
          <a:p>
            <a:pPr algn="l">
              <a:lnSpc>
                <a:spcPts val="6855"/>
              </a:lnSpc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Telegram: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Messaging</a:t>
            </a: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-focused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igh customization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Minimal</a:t>
            </a: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visuals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6855"/>
              </a:lnSpc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</a:t>
            </a: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agram: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Visual</a:t>
            </a: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and social interaction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Less customization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114550" lvl="2" indent="-704850" algn="l">
              <a:lnSpc>
                <a:spcPts val="6855"/>
              </a:lnSpc>
              <a:buFont typeface="Arial" panose="020B0604020202020204"/>
              <a:buChar char="⚬"/>
            </a:pPr>
            <a:r>
              <a:rPr lang="en-US" sz="4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More engaging design</a:t>
            </a:r>
            <a:endParaRPr lang="en-US" sz="489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6855"/>
              </a:lnSpc>
              <a:spcBef>
                <a:spcPct val="0"/>
              </a:spcBef>
            </a:pPr>
          </a:p>
        </p:txBody>
      </p:sp>
      <p:grpSp>
        <p:nvGrpSpPr>
          <p:cNvPr id="12" name="Group 12"/>
          <p:cNvGrpSpPr/>
          <p:nvPr/>
        </p:nvGrpSpPr>
        <p:grpSpPr>
          <a:xfrm rot="0">
            <a:off x="295124" y="2360730"/>
            <a:ext cx="335532" cy="299993"/>
            <a:chOff x="0" y="0"/>
            <a:chExt cx="247405" cy="22120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295124" y="5743414"/>
            <a:ext cx="335532" cy="299993"/>
            <a:chOff x="0" y="0"/>
            <a:chExt cx="247405" cy="2212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7405" cy="221201"/>
            </a:xfrm>
            <a:custGeom>
              <a:avLst/>
              <a:gdLst/>
              <a:ahLst/>
              <a:cxnLst/>
              <a:rect l="l" t="t" r="r" b="b"/>
              <a:pathLst>
                <a:path w="247405" h="221201">
                  <a:moveTo>
                    <a:pt x="0" y="0"/>
                  </a:moveTo>
                  <a:lnTo>
                    <a:pt x="247405" y="0"/>
                  </a:lnTo>
                  <a:lnTo>
                    <a:pt x="247405" y="221201"/>
                  </a:lnTo>
                  <a:lnTo>
                    <a:pt x="0" y="221201"/>
                  </a:lnTo>
                  <a:close/>
                </a:path>
              </a:pathLst>
            </a:custGeom>
            <a:gradFill rotWithShape="1">
              <a:gsLst>
                <a:gs pos="0">
                  <a:srgbClr val="5470FF">
                    <a:alpha val="100000"/>
                  </a:srgbClr>
                </a:gs>
                <a:gs pos="100000">
                  <a:srgbClr val="1F329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47405" cy="278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sp>
        <p:nvSpPr>
          <p:cNvPr id="18" name="Freeform 18"/>
          <p:cNvSpPr/>
          <p:nvPr/>
        </p:nvSpPr>
        <p:spPr>
          <a:xfrm>
            <a:off x="11883875" y="1997112"/>
            <a:ext cx="3870765" cy="3146388"/>
          </a:xfrm>
          <a:custGeom>
            <a:avLst/>
            <a:gdLst/>
            <a:ahLst/>
            <a:cxnLst/>
            <a:rect l="l" t="t" r="r" b="b"/>
            <a:pathLst>
              <a:path w="3870765" h="3146388">
                <a:moveTo>
                  <a:pt x="0" y="0"/>
                </a:moveTo>
                <a:lnTo>
                  <a:pt x="3870765" y="0"/>
                </a:lnTo>
                <a:lnTo>
                  <a:pt x="3870765" y="3146388"/>
                </a:lnTo>
                <a:lnTo>
                  <a:pt x="0" y="314638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6633" t="-14790" r="-35413" b="-16103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442944" y="767127"/>
            <a:ext cx="8147515" cy="976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45"/>
              </a:lnSpc>
            </a:pPr>
            <a:r>
              <a:rPr lang="en-US" sz="717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d. Instagram vs Telegram</a:t>
            </a:r>
            <a:endParaRPr lang="en-US" sz="717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95124" y="468814"/>
            <a:ext cx="2498022" cy="106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70"/>
              </a:lnSpc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cont...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11985885" y="5507118"/>
            <a:ext cx="2374341" cy="4619970"/>
          </a:xfrm>
          <a:custGeom>
            <a:avLst/>
            <a:gdLst/>
            <a:ahLst/>
            <a:cxnLst/>
            <a:rect l="l" t="t" r="r" b="b"/>
            <a:pathLst>
              <a:path w="2374341" h="4619970">
                <a:moveTo>
                  <a:pt x="0" y="0"/>
                </a:moveTo>
                <a:lnTo>
                  <a:pt x="2374341" y="0"/>
                </a:lnTo>
                <a:lnTo>
                  <a:pt x="2374341" y="4619970"/>
                </a:lnTo>
                <a:lnTo>
                  <a:pt x="0" y="4619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6677" r="-128624" b="-2712"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12900" y="570645"/>
            <a:ext cx="9662200" cy="1049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855"/>
              </a:lnSpc>
            </a:pPr>
            <a:r>
              <a:rPr lang="en-US" sz="7775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        Comparative Summary</a:t>
            </a:r>
            <a:endParaRPr lang="en-US" sz="7775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5124" y="468814"/>
            <a:ext cx="2498022" cy="106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70"/>
              </a:lnSpc>
            </a:pPr>
            <a:r>
              <a:rPr lang="en-US" sz="7890">
                <a:solidFill>
                  <a:srgbClr val="FFFFFF"/>
                </a:solidFill>
                <a:latin typeface="Bebas Neue Cyrillic" panose="02000506000000020004"/>
                <a:ea typeface="Bebas Neue Cyrillic" panose="02000506000000020004"/>
                <a:cs typeface="Bebas Neue Cyrillic" panose="02000506000000020004"/>
                <a:sym typeface="Bebas Neue Cyrillic" panose="02000506000000020004"/>
              </a:rPr>
              <a:t>cont...</a:t>
            </a:r>
            <a:endParaRPr lang="en-US" sz="7890">
              <a:solidFill>
                <a:srgbClr val="FFFFFF"/>
              </a:solidFill>
              <a:latin typeface="Bebas Neue Cyrillic" panose="02000506000000020004"/>
              <a:ea typeface="Bebas Neue Cyrillic" panose="02000506000000020004"/>
              <a:cs typeface="Bebas Neue Cyrillic" panose="02000506000000020004"/>
              <a:sym typeface="Bebas Neue Cyrillic" panose="02000506000000020004"/>
            </a:endParaRP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72720" y="1722755"/>
          <a:ext cx="17950180" cy="8458835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3435985"/>
                <a:gridCol w="4719320"/>
                <a:gridCol w="5556885"/>
                <a:gridCol w="4237990"/>
              </a:tblGrid>
              <a:tr h="1311275">
                <a:tc>
                  <a:txBody>
                    <a:bodyPr/>
                    <a:p>
                      <a:r>
                        <a:rPr sz="6000"/>
                        <a:t>Platform</a:t>
                      </a:r>
                      <a:endParaRPr sz="6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sz="6000"/>
                        <a:t>UI Complexity</a:t>
                      </a:r>
                      <a:endParaRPr sz="6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sz="6000"/>
                        <a:t>Content Type</a:t>
                      </a:r>
                      <a:endParaRPr sz="6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sz="6000"/>
                        <a:t>User Control</a:t>
                      </a:r>
                      <a:endParaRPr sz="6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507490">
                <a:tc>
                  <a:txBody>
                    <a:bodyPr/>
                    <a:p>
                      <a:r>
                        <a:rPr lang="en-US" sz="4000"/>
                        <a:t> </a:t>
                      </a:r>
                      <a:r>
                        <a:rPr sz="4000"/>
                        <a:t>Instagram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lang="en-US" sz="4000"/>
                        <a:t> </a:t>
                      </a:r>
                      <a:r>
                        <a:rPr sz="4000"/>
                        <a:t>Medium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lang="en-US" sz="4000"/>
                        <a:t> </a:t>
                      </a:r>
                      <a:r>
                        <a:rPr sz="4000"/>
                        <a:t>Photos &amp; short videos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lang="en-US" sz="4000"/>
                        <a:t> </a:t>
                      </a:r>
                      <a:r>
                        <a:rPr sz="4000"/>
                        <a:t>Medium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311910">
                <a:tc>
                  <a:txBody>
                    <a:bodyPr/>
                    <a:p>
                      <a:r>
                        <a:rPr lang="en-US" sz="4000"/>
                        <a:t> </a:t>
                      </a:r>
                      <a:r>
                        <a:rPr sz="4000"/>
                        <a:t>Facebook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lang="en-US" sz="4000"/>
                        <a:t> </a:t>
                      </a:r>
                      <a:r>
                        <a:rPr sz="4000"/>
                        <a:t>High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lang="en-US" sz="4000"/>
                        <a:t> </a:t>
                      </a:r>
                      <a:r>
                        <a:rPr sz="4000"/>
                        <a:t>Mixed content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lang="en-US" sz="4000"/>
                        <a:t> </a:t>
                      </a:r>
                      <a:r>
                        <a:rPr sz="4000"/>
                        <a:t>High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311910">
                <a:tc>
                  <a:txBody>
                    <a:bodyPr/>
                    <a:p>
                      <a:r>
                        <a:rPr lang="en-US" sz="4000"/>
                        <a:t> </a:t>
                      </a:r>
                      <a:r>
                        <a:rPr sz="4000"/>
                        <a:t>TikTok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lang="en-US" sz="4000"/>
                        <a:t> </a:t>
                      </a:r>
                      <a:r>
                        <a:rPr sz="4000"/>
                        <a:t>Low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lang="en-US" sz="4000"/>
                        <a:t> </a:t>
                      </a:r>
                      <a:r>
                        <a:rPr sz="4000"/>
                        <a:t>Short videos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lang="en-US" sz="4000"/>
                        <a:t> </a:t>
                      </a:r>
                      <a:r>
                        <a:rPr sz="4000"/>
                        <a:t>Low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508125">
                <a:tc>
                  <a:txBody>
                    <a:bodyPr/>
                    <a:p>
                      <a:r>
                        <a:rPr lang="en-US" sz="4000"/>
                        <a:t> </a:t>
                      </a:r>
                      <a:r>
                        <a:rPr sz="4000"/>
                        <a:t>YouTube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lang="en-US" sz="4000"/>
                        <a:t> </a:t>
                      </a:r>
                      <a:r>
                        <a:rPr sz="4000"/>
                        <a:t>Medium–High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lang="en-US" sz="4000"/>
                        <a:t> </a:t>
                      </a:r>
                      <a:r>
                        <a:rPr sz="4000"/>
                        <a:t>Long &amp; short videos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lang="en-US" sz="4000"/>
                        <a:t> </a:t>
                      </a:r>
                      <a:r>
                        <a:rPr sz="4000"/>
                        <a:t>High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508125">
                <a:tc>
                  <a:txBody>
                    <a:bodyPr/>
                    <a:p>
                      <a:r>
                        <a:rPr lang="en-US" sz="4000"/>
                        <a:t>  </a:t>
                      </a:r>
                      <a:r>
                        <a:rPr sz="4000"/>
                        <a:t>Telegram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lang="en-US" sz="4000"/>
                        <a:t> </a:t>
                      </a:r>
                      <a:r>
                        <a:rPr sz="4000"/>
                        <a:t>Low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lang="en-US" sz="4000"/>
                        <a:t> </a:t>
                      </a:r>
                      <a:r>
                        <a:rPr sz="4000"/>
                        <a:t>Messaging &amp; channels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r>
                        <a:rPr lang="en-US" sz="4000"/>
                        <a:t> </a:t>
                      </a:r>
                      <a:r>
                        <a:rPr sz="4000"/>
                        <a:t>High</a:t>
                      </a:r>
                      <a:endParaRPr sz="4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938">
                <a:alpha val="100000"/>
              </a:srgbClr>
            </a:gs>
            <a:gs pos="100000">
              <a:srgbClr val="00093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2640" y="3378835"/>
            <a:ext cx="15892145" cy="3612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170"/>
              </a:lnSpc>
              <a:spcBef>
                <a:spcPct val="0"/>
              </a:spcBef>
            </a:pPr>
            <a:r>
              <a:rPr lang="en-US" sz="2012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THANK YOU</a:t>
            </a:r>
            <a:endParaRPr lang="en-US" sz="2012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413*666"/>
  <p:tag name="TABLE_ENDDRAG_RECT" val="13*135*1413*66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2859</Words>
  <Application>WPS Presentation</Application>
  <PresentationFormat>On-screen Show (4:3)</PresentationFormat>
  <Paragraphs>251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SimSun</vt:lpstr>
      <vt:lpstr>Wingdings</vt:lpstr>
      <vt:lpstr>Canva Sans</vt:lpstr>
      <vt:lpstr>Bebas Neue Cyrillic</vt:lpstr>
      <vt:lpstr>Open Sans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Futuristic Artificial Intelligence Presentation</dc:title>
  <dc:creator/>
  <cp:lastModifiedBy>Nanbon Bekele</cp:lastModifiedBy>
  <cp:revision>12</cp:revision>
  <dcterms:created xsi:type="dcterms:W3CDTF">2006-08-16T00:00:00Z</dcterms:created>
  <dcterms:modified xsi:type="dcterms:W3CDTF">2026-02-28T20:08:43Z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A2D1FDBAB1244E199D473F713B92D8AB_13</vt:lpwstr>
  </property>
  <property fmtid="{D5CDD505-2E9C-101B-9397-08002B2CF9AE}" pid="3" name="KSOProductBuildVer">
    <vt:lpwstr>1033-12.2.0.23155</vt:lpwstr>
  </property>
</Properties>
</file>
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3" d="100"/>
          <a:sy n="73" d="100"/>
        </p:scale>
        <p:origin x="4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55865FC-07F8-4057-9028-11B4EDDFAB1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0207A77-D433-4A8A-BCCD-651AC80E53A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69541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65FC-07F8-4057-9028-11B4EDDFAB1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7A77-D433-4A8A-BCCD-651AC80E5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314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65FC-07F8-4057-9028-11B4EDDFAB1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7A77-D433-4A8A-BCCD-651AC80E53A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46217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65FC-07F8-4057-9028-11B4EDDFAB1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7A77-D433-4A8A-BCCD-651AC80E5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80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65FC-07F8-4057-9028-11B4EDDFAB1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7A77-D433-4A8A-BCCD-651AC80E5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71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65FC-07F8-4057-9028-11B4EDDFAB1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7A77-D433-4A8A-BCCD-651AC80E5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32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65FC-07F8-4057-9028-11B4EDDFAB1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7A77-D433-4A8A-BCCD-651AC80E5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78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65FC-07F8-4057-9028-11B4EDDFAB1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7A77-D433-4A8A-BCCD-651AC80E5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0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65FC-07F8-4057-9028-11B4EDDFAB1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7A77-D433-4A8A-BCCD-651AC80E5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2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65FC-07F8-4057-9028-11B4EDDFAB1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7A77-D433-4A8A-BCCD-651AC80E5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4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865FC-07F8-4057-9028-11B4EDDFAB1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07A77-D433-4A8A-BCCD-651AC80E5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666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55865FC-07F8-4057-9028-11B4EDDFAB1B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0207A77-D433-4A8A-BCCD-651AC80E5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6EBD9-B3ED-BD05-DECE-00A60A4F0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086" y="659876"/>
            <a:ext cx="11635930" cy="5184744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700" b="1" dirty="0"/>
              <a:t>Bule Hora University </a:t>
            </a:r>
            <a:br>
              <a:rPr lang="en-US" sz="6700" b="1" dirty="0"/>
            </a:br>
            <a:r>
              <a:rPr lang="en-US" sz="6000" b="1" dirty="0"/>
              <a:t>Collage Of Informatics</a:t>
            </a:r>
            <a:br>
              <a:rPr lang="en-US" sz="5400" b="1" dirty="0"/>
            </a:br>
            <a:r>
              <a:rPr lang="en-US" sz="4900" b="1" dirty="0"/>
              <a:t>Department Of Software Engineering.</a:t>
            </a:r>
            <a:br>
              <a:rPr lang="en-US" sz="5300" b="1" dirty="0"/>
            </a:br>
            <a:r>
              <a:rPr lang="en-US" sz="4400" b="1" dirty="0"/>
              <a:t>Assignment For Mobile Application Development.</a:t>
            </a:r>
            <a:br>
              <a:rPr lang="en-US" sz="4400" b="1" dirty="0"/>
            </a:br>
            <a:r>
              <a:rPr lang="en-US" sz="4400" b="1" dirty="0"/>
              <a:t>Prepared by:- </a:t>
            </a:r>
            <a:r>
              <a:rPr lang="en-US" sz="4400" b="1" dirty="0" err="1"/>
              <a:t>Nanbon</a:t>
            </a:r>
            <a:r>
              <a:rPr lang="en-US" sz="4400" b="1" dirty="0"/>
              <a:t> Bekele</a:t>
            </a:r>
            <a:br>
              <a:rPr lang="en-US" sz="4400" b="1" dirty="0"/>
            </a:br>
            <a:r>
              <a:rPr lang="en-US" sz="4400" b="1" dirty="0"/>
              <a:t>id: 0746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40582331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14594-8D96-7044-D0E9-86465779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387" y="1828800"/>
            <a:ext cx="9329927" cy="2209800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1. Describe Type Of Mobile Application             And Mobile OS</a:t>
            </a:r>
          </a:p>
        </p:txBody>
      </p:sp>
    </p:spTree>
    <p:extLst>
      <p:ext uri="{BB962C8B-B14F-4D97-AF65-F5344CB8AC3E}">
        <p14:creationId xmlns:p14="http://schemas.microsoft.com/office/powerpoint/2010/main" val="3357223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E345-E0BF-79FC-CFE3-485B8F4E9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0"/>
            <a:ext cx="9692640" cy="1404257"/>
          </a:xfrm>
        </p:spPr>
        <p:txBody>
          <a:bodyPr/>
          <a:lstStyle/>
          <a:p>
            <a:r>
              <a:rPr lang="en-US" b="1" dirty="0"/>
              <a:t>1.1 Type Of Mobile 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DC25B-A2EB-837A-8EC2-776279F7C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29" y="2198915"/>
            <a:ext cx="10853057" cy="5976256"/>
          </a:xfrm>
        </p:spPr>
        <p:txBody>
          <a:bodyPr>
            <a:normAutofit/>
          </a:bodyPr>
          <a:lstStyle/>
          <a:p>
            <a:pPr>
              <a:lnSpc>
                <a:spcPct val="6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 Mobile apps are categorized by </a:t>
            </a:r>
            <a:r>
              <a:rPr lang="en-US" sz="3200" b="1" dirty="0"/>
              <a:t>their technology </a:t>
            </a:r>
            <a:r>
              <a:rPr lang="en-US" sz="3200" dirty="0"/>
              <a:t>(how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sz="3200" dirty="0"/>
              <a:t>  they’re built) and </a:t>
            </a:r>
            <a:r>
              <a:rPr lang="en-US" sz="3200" b="1" dirty="0"/>
              <a:t>by purpose </a:t>
            </a:r>
            <a:r>
              <a:rPr lang="en-US" sz="3200" dirty="0"/>
              <a:t>(what they do):</a:t>
            </a:r>
          </a:p>
          <a:p>
            <a:pPr marL="0" indent="0">
              <a:lnSpc>
                <a:spcPct val="60000"/>
              </a:lnSpc>
              <a:buNone/>
            </a:pPr>
            <a:endParaRPr lang="en-US" sz="3200" dirty="0"/>
          </a:p>
          <a:p>
            <a:pPr>
              <a:lnSpc>
                <a:spcPct val="6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791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E39A-1F88-E54A-45A9-BBC4EBDCF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Technology</a:t>
            </a:r>
            <a:br>
              <a:rPr lang="en-US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CDBA7-D35D-B757-2744-B5635FF62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829" y="2035630"/>
            <a:ext cx="10189899" cy="5290456"/>
          </a:xfrm>
        </p:spPr>
        <p:txBody>
          <a:bodyPr/>
          <a:lstStyle/>
          <a:p>
            <a:pPr marL="342900" marR="0" lvl="0" indent="-342900">
              <a:lnSpc>
                <a:spcPct val="6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Native Apps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6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Built for specific OS (e.g., Swift for iOS, Kotlin for Android).</a:t>
            </a:r>
          </a:p>
          <a:p>
            <a:pPr marL="742950" marR="0" lvl="1" indent="-285750">
              <a:lnSpc>
                <a:spcPct val="6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 Instagram, Pokémon GO.</a:t>
            </a:r>
          </a:p>
          <a:p>
            <a:pPr marL="342900" marR="0" lvl="0" indent="-342900">
              <a:lnSpc>
                <a:spcPct val="6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 Apps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6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Browser-based, no installation needed.</a:t>
            </a:r>
          </a:p>
          <a:p>
            <a:pPr marL="742950" marR="0" lvl="1" indent="-285750">
              <a:lnSpc>
                <a:spcPct val="6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 Google Docs (browser version).</a:t>
            </a:r>
          </a:p>
          <a:p>
            <a:pPr marL="742950" marR="0" lvl="1" indent="-285750">
              <a:lnSpc>
                <a:spcPct val="6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6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Hybrid Apps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6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Combine web technologies with a native wrapper.</a:t>
            </a:r>
          </a:p>
          <a:p>
            <a:pPr marL="742950" marR="0" lvl="1" indent="-285750">
              <a:lnSpc>
                <a:spcPct val="6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 Early Uber versions.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86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5F040-6903-CC83-44F7-A9C485426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043" y="0"/>
            <a:ext cx="9692640" cy="1393371"/>
          </a:xfrm>
        </p:spPr>
        <p:txBody>
          <a:bodyPr/>
          <a:lstStyle/>
          <a:p>
            <a:r>
              <a:rPr lang="en-US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98806-A2FC-E4FB-7A1F-C69C627C4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1005" y="2120901"/>
            <a:ext cx="8595360" cy="4419599"/>
          </a:xfrm>
        </p:spPr>
        <p:txBody>
          <a:bodyPr>
            <a:normAutofit/>
          </a:bodyPr>
          <a:lstStyle/>
          <a:p>
            <a:pPr marL="0" marR="0" lvl="0" indent="0">
              <a:lnSpc>
                <a:spcPct val="5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Cross-Platform Apps 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Built using frameworks (e.g., React Native,</a:t>
            </a:r>
          </a:p>
          <a:p>
            <a:pPr marR="0" lvl="1" indent="0">
              <a:lnSpc>
                <a:spcPct val="50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Flutter).</a:t>
            </a:r>
          </a:p>
          <a:p>
            <a:pPr marL="742950" marR="0" lvl="1" indent="-285750">
              <a:lnSpc>
                <a:spcPct val="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 Facebook, Airbnb.</a:t>
            </a:r>
          </a:p>
          <a:p>
            <a:pPr marL="0" marR="0" lvl="0" indent="0">
              <a:lnSpc>
                <a:spcPct val="50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Progressive Web Apps (PWAs)</a:t>
            </a:r>
            <a:endParaRPr lang="en-US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Enhanced web apps with native-like features</a:t>
            </a:r>
          </a:p>
          <a:p>
            <a:pPr marR="0" lvl="1" indent="0">
              <a:lnSpc>
                <a:spcPct val="50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(offline, push</a:t>
            </a:r>
          </a:p>
          <a:p>
            <a:pPr marR="0" lvl="1" indent="0">
              <a:lnSpc>
                <a:spcPct val="50000"/>
              </a:lnSpc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32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notifications).</a:t>
            </a:r>
          </a:p>
          <a:p>
            <a:pPr marL="742950" marR="0" lvl="1" indent="-285750">
              <a:lnSpc>
                <a:spcPct val="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Examples: Twitter Lite, Spotify PWA.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99229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F1462-F7EC-A942-1D41-8CFF4C3C9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" y="568960"/>
            <a:ext cx="9692640" cy="1325562"/>
          </a:xfrm>
        </p:spPr>
        <p:txBody>
          <a:bodyPr>
            <a:normAutofit fontScale="90000"/>
          </a:bodyPr>
          <a:lstStyle/>
          <a:p>
            <a:r>
              <a:rPr lang="en-US" sz="89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Purpose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32C4A-991D-0483-3B6B-1A9FC8FA3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8320" y="2105025"/>
            <a:ext cx="8595360" cy="4351337"/>
          </a:xfrm>
        </p:spPr>
        <p:txBody>
          <a:bodyPr>
            <a:normAutofit lnSpcReduction="10000"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Social Media: </a:t>
            </a:r>
            <a:r>
              <a:rPr lang="en-US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TikTok, Instagram.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Gaming: </a:t>
            </a:r>
            <a:r>
              <a:rPr lang="en-US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PUBG Mobile, Candy Crush.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Productivity: </a:t>
            </a:r>
            <a:r>
              <a:rPr lang="en-US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Microsoft Teams, Evernote</a:t>
            </a: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E-commerce: </a:t>
            </a:r>
            <a:r>
              <a:rPr lang="en-US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Amazon, eBay.</a:t>
            </a:r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Utilities: </a:t>
            </a:r>
            <a:r>
              <a:rPr lang="en-US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QR scanners, weather apps.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57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7966-8F1E-B939-7666-AD7D338B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111760"/>
            <a:ext cx="9692640" cy="1325562"/>
          </a:xfrm>
        </p:spPr>
        <p:txBody>
          <a:bodyPr/>
          <a:lstStyle/>
          <a:p>
            <a:r>
              <a:rPr lang="en-US" dirty="0"/>
              <a:t>…cont.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C12ED-957A-61FC-A32D-C4FFFE0B5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Health &amp; Fitness: </a:t>
            </a:r>
            <a:r>
              <a:rPr lang="en-US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Fitbit, MyFitnessPal.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Education: </a:t>
            </a:r>
            <a:r>
              <a:rPr lang="en-US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Duolingo, Coursera.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Entertainment: </a:t>
            </a:r>
            <a:r>
              <a:rPr lang="en-US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Netflix, Spotify.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Travel &amp; Navigation: </a:t>
            </a:r>
            <a:r>
              <a:rPr lang="en-US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Google Maps, Booking.com.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Enterprise: </a:t>
            </a:r>
            <a:r>
              <a:rPr lang="en-US" sz="3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Salesforce, SAP.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04064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6C3AF-85E9-3516-9D6E-C1653CC14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872" y="111760"/>
            <a:ext cx="9692640" cy="1325562"/>
          </a:xfrm>
        </p:spPr>
        <p:txBody>
          <a:bodyPr>
            <a:normAutofit/>
          </a:bodyPr>
          <a:lstStyle/>
          <a:p>
            <a:r>
              <a:rPr lang="en-US" sz="6000" b="1" dirty="0"/>
              <a:t>1.2  Type Of Mobile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4BD56-4DA3-F8DA-DE59-5E4EA8AE4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Definition:  </a:t>
            </a: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mobile OS is the software platform powering smartphones, tablets, and mobile devices. It manages hardware, enables user interaction, and supports app development.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404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7D260-C33D-80FC-2141-8F1D53E23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Android (by Google)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E8936-257D-8B37-E8D1-7DB8C8734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397000"/>
            <a:ext cx="9323832" cy="4783137"/>
          </a:xfrm>
        </p:spPr>
        <p:txBody>
          <a:bodyPr>
            <a:normAutofit fontScale="77500" lnSpcReduction="20000"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Overview: </a:t>
            </a: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Open-source OS based on Linux, developed by Google. Dominates the global market (~70% share).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Features: </a:t>
            </a:r>
            <a:endParaRPr lang="en-US" sz="3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Customizable: </a:t>
            </a: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Manufacturers can modify it (e.g., Samsung's One UI).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 Ecosystem: </a:t>
            </a: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Google Play Store + third-party stores.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Hardware Diversity: </a:t>
            </a: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Supports all price ranges.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Fragmentation: </a:t>
            </a: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Multiple OS versions coexist, complicating app testing.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06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09DD4-2349-3A18-B78B-71F36BB28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572" y="200660"/>
            <a:ext cx="9692640" cy="1325562"/>
          </a:xfrm>
        </p:spPr>
        <p:txBody>
          <a:bodyPr>
            <a:normAutofit fontScale="90000"/>
          </a:bodyPr>
          <a:lstStyle/>
          <a:p>
            <a:r>
              <a:rPr lang="en-US" sz="6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iOS (by Apple)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4EFAA-39BF-36C9-5C7E-550E72B74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0" y="1526222"/>
            <a:ext cx="9328912" cy="4653915"/>
          </a:xfrm>
        </p:spPr>
        <p:txBody>
          <a:bodyPr>
            <a:normAutofit fontScale="77500" lnSpcReduction="20000"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Overview: </a:t>
            </a:r>
            <a:r>
              <a:rPr lang="en-US" sz="4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Closed-source, Unix-based OS exclusive to Apple devices (iPhone, iPad). ~28% market share.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4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Features: 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Uniformity: </a:t>
            </a:r>
            <a:r>
              <a:rPr lang="en-US" sz="4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devices run the same OS version.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Security: </a:t>
            </a:r>
            <a:r>
              <a:rPr lang="en-US" sz="4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Strict app review process, sandboxing, regular updates.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41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Ecosystem Integration: </a:t>
            </a:r>
            <a:r>
              <a:rPr lang="en-US" sz="4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Works seamlessly with Apple services (iCloud, </a:t>
            </a:r>
            <a:r>
              <a:rPr lang="en-US" sz="41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AirDrop</a:t>
            </a:r>
            <a:r>
              <a:rPr lang="en-US" sz="41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080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2295B-06D9-BC87-1F3F-7EB5DC39E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796" y="555992"/>
            <a:ext cx="9692640" cy="1325562"/>
          </a:xfrm>
        </p:spPr>
        <p:txBody>
          <a:bodyPr>
            <a:normAutofit fontScale="90000"/>
          </a:bodyPr>
          <a:lstStyle/>
          <a:p>
            <a:r>
              <a:rPr lang="en-US" sz="6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Other Mobile OS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B3C08-C1B9-6237-607D-E9AA79B6ED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9000" y="1881554"/>
            <a:ext cx="8968232" cy="4577715"/>
          </a:xfrm>
        </p:spPr>
        <p:txBody>
          <a:bodyPr>
            <a:normAutofit fontScale="92500" lnSpcReduction="20000"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700" b="1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KaiOS</a:t>
            </a:r>
            <a:r>
              <a:rPr lang="en-US" sz="37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3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Powers low-cost "smart feature phones" (e.g., Nokia 2720).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7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HarmonyOS (Huawei): </a:t>
            </a:r>
            <a:r>
              <a:rPr lang="en-US" sz="3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Designed for cross-device compatibility (phones, IoT).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7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Tizen (Samsung): </a:t>
            </a:r>
            <a:r>
              <a:rPr lang="en-US" sz="3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Used in smartwatches and TVs.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7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Legacy OS</a:t>
            </a:r>
            <a:r>
              <a:rPr lang="en-US" sz="37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35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Discontinued platforms like Windows Mobile and BlackBerry OS.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899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64F85-18C7-1F5F-9593-2D879A825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15082"/>
            <a:ext cx="10294112" cy="1325562"/>
          </a:xfrm>
        </p:spPr>
        <p:txBody>
          <a:bodyPr>
            <a:normAutofit/>
          </a:bodyPr>
          <a:lstStyle/>
          <a:p>
            <a:r>
              <a:rPr lang="en-US" sz="4800" b="1" dirty="0"/>
              <a:t>2. Discuss History Of Android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80200-A681-F3BA-32E9-3D970B718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828800"/>
            <a:ext cx="9893300" cy="4351337"/>
          </a:xfrm>
        </p:spPr>
        <p:txBody>
          <a:bodyPr/>
          <a:lstStyle/>
          <a:p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history of </a:t>
            </a:r>
            <a:r>
              <a:rPr lang="en-US" sz="3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Android</a:t>
            </a: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fascinating journey of technological innovation, acquisition, and evolution. Here's an overview of how Android became one of the world's most popular mobile operating systems: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200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5C06-CD38-7292-2F4F-F5E99D879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72" y="785019"/>
            <a:ext cx="9692640" cy="1325562"/>
          </a:xfrm>
        </p:spPr>
        <p:txBody>
          <a:bodyPr>
            <a:normAutofit/>
          </a:bodyPr>
          <a:lstStyle/>
          <a:p>
            <a:r>
              <a:rPr lang="en-US" b="1" dirty="0"/>
              <a:t>Early Beginnings (2003-2005)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D9CD9-35A8-59B0-E2BA-6FAE1B59F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4020" y="2305640"/>
            <a:ext cx="9293860" cy="473233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2003:</a:t>
            </a:r>
            <a:r>
              <a:rPr lang="en-US" sz="3200" dirty="0"/>
              <a:t> Founded by Andy Rubin and team under Android Inc.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2004:</a:t>
            </a:r>
            <a:r>
              <a:rPr lang="en-US" sz="3200" dirty="0"/>
              <a:t> Shifted focus from digital cameras to mobile phones.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2005:</a:t>
            </a:r>
            <a:r>
              <a:rPr lang="en-US" sz="3200" dirty="0"/>
              <a:t> Google acquired Android Inc. for $50 million.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119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58BF-DDF3-D72E-A954-67FE7ACDD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719" y="741363"/>
            <a:ext cx="10306812" cy="1325562"/>
          </a:xfrm>
        </p:spPr>
        <p:txBody>
          <a:bodyPr>
            <a:normAutofit/>
          </a:bodyPr>
          <a:lstStyle/>
          <a:p>
            <a:r>
              <a:rPr lang="en-US" b="1" dirty="0"/>
              <a:t>The Launch of Android (2007-2008)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50E18-648F-EBAA-B4F3-C7D2E6DB5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586" y="2242185"/>
            <a:ext cx="9774428" cy="461581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/>
              <a:t>2007:</a:t>
            </a:r>
            <a:r>
              <a:rPr lang="en-US" sz="3600" dirty="0"/>
              <a:t> Formation of the Open Handset                  Alliance (OHA).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/>
              <a:t>2008:</a:t>
            </a:r>
            <a:r>
              <a:rPr lang="en-US" sz="3600" dirty="0"/>
              <a:t> First Android phone (T-Mobile G1/HTC Dream) with Android 1.0.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6670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DDAB6-2851-4B67-DB8E-14BF68651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" y="467568"/>
            <a:ext cx="10281412" cy="13255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Growth and Refinement (2009-2011)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D4C04-137A-A4BC-1FF6-D8EDCB8A5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0" y="1908797"/>
            <a:ext cx="10281412" cy="435133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2009:</a:t>
            </a:r>
            <a:r>
              <a:rPr lang="en-US" sz="3200" dirty="0"/>
              <a:t> Android 1.5 Cupcake (virtual keyboard, video recording), Android 1.6 Donut (screen size adaptation).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2010:</a:t>
            </a:r>
            <a:r>
              <a:rPr lang="en-US" sz="3200" dirty="0"/>
              <a:t> Android 2.2 </a:t>
            </a:r>
            <a:r>
              <a:rPr lang="en-US" sz="3200" dirty="0" err="1"/>
              <a:t>FroYo</a:t>
            </a:r>
            <a:r>
              <a:rPr lang="en-US" sz="3200" dirty="0"/>
              <a:t> (speed improvements, Flash support), Android 2.3 Gingerbread (NFC, better battery management).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2011:</a:t>
            </a:r>
            <a:r>
              <a:rPr lang="en-US" sz="3200" dirty="0"/>
              <a:t> Android 3.0 Honeycomb (tablet-optimized UI).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257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5A9C8-1EAB-E8F4-2E04-6CC3E7106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467469"/>
            <a:ext cx="10370312" cy="13255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Dominance and Maturation (2012-2014)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7D4C9-1A15-8858-50B0-38B414FF5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702" y="2024246"/>
            <a:ext cx="10871200" cy="493553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600" b="1" dirty="0"/>
              <a:t>2012:</a:t>
            </a:r>
            <a:r>
              <a:rPr lang="en-US" sz="3600" dirty="0"/>
              <a:t> Android 4.0 Ice Cream Sandwich (unified smartphone/tablet UI, improved multitasking).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/>
              <a:t>2013:</a:t>
            </a:r>
            <a:r>
              <a:rPr lang="en-US" sz="3600" dirty="0"/>
              <a:t> Android 4.4 KitKat (better low-end device performance, Google Now assistant).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/>
              <a:t>2014:</a:t>
            </a:r>
            <a:r>
              <a:rPr lang="en-US" sz="3600" dirty="0"/>
              <a:t> Android 5.0 Lollipop (Material Design visual overhaul).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781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C9B7-65AC-881D-7187-BD6051D5A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00" y="15082"/>
            <a:ext cx="11277600" cy="1026318"/>
          </a:xfrm>
        </p:spPr>
        <p:txBody>
          <a:bodyPr>
            <a:normAutofit/>
          </a:bodyPr>
          <a:lstStyle/>
          <a:p>
            <a:r>
              <a:rPr lang="en-US" sz="4200" b="1" dirty="0"/>
              <a:t>The Evolution of Android (2015-Present)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61E88-C6A9-24CB-5AB1-8C68728E1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409700"/>
            <a:ext cx="10629900" cy="4711700"/>
          </a:xfrm>
        </p:spPr>
        <p:txBody>
          <a:bodyPr>
            <a:normAutofit fontScale="2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800" b="1" dirty="0"/>
              <a:t>2015:</a:t>
            </a:r>
            <a:r>
              <a:rPr lang="en-US" sz="12800" dirty="0"/>
              <a:t> Android 6.0 Marshmallow (Doze mode, Google Now on Tap).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800" b="1" dirty="0"/>
              <a:t>2016:</a:t>
            </a:r>
            <a:r>
              <a:rPr lang="en-US" sz="12800" dirty="0"/>
              <a:t> Android 7.0 Nougat (split-screen multitasking, improved notifications).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800" b="1" dirty="0"/>
              <a:t>2017:</a:t>
            </a:r>
            <a:r>
              <a:rPr lang="en-US" sz="12800" dirty="0"/>
              <a:t> Android 8.0 Oreo (Picture-in-Picture, notification dots).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800" b="1" dirty="0"/>
              <a:t>2018:</a:t>
            </a:r>
            <a:r>
              <a:rPr lang="en-US" sz="12800" dirty="0"/>
              <a:t> Android 9.0 Pie (gesture navigation, digital wellbeing dashboard).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800" b="1" dirty="0"/>
              <a:t>2019:</a:t>
            </a:r>
            <a:r>
              <a:rPr lang="en-US" sz="12800" dirty="0"/>
              <a:t> Android 10 (privacy &amp; security focus, no dessert names).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396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1F899-CB46-725B-72C7-279298B8F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72" y="0"/>
            <a:ext cx="9692640" cy="1005522"/>
          </a:xfrm>
        </p:spPr>
        <p:txBody>
          <a:bodyPr/>
          <a:lstStyle/>
          <a:p>
            <a:r>
              <a:rPr lang="en-US" b="1" dirty="0"/>
              <a:t>….cont.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3B988-2F22-1777-F8AF-6895D1E0D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00" y="1691322"/>
            <a:ext cx="10642600" cy="448881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2020:</a:t>
            </a:r>
            <a:r>
              <a:rPr lang="en-US" sz="3200" dirty="0"/>
              <a:t> Android 11 (smart home integration, improved messaging).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2021:</a:t>
            </a:r>
            <a:r>
              <a:rPr lang="en-US" sz="3200" dirty="0"/>
              <a:t> Android 12 (Material You design, enhanced privacy tools).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2022:</a:t>
            </a:r>
            <a:r>
              <a:rPr lang="en-US" sz="3200" dirty="0"/>
              <a:t> Android 13 (better multitasking, privacy enhancements, foldable device optimization).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2023:</a:t>
            </a:r>
            <a:r>
              <a:rPr lang="en-US" sz="3200" dirty="0"/>
              <a:t> Android 14 (customization, security, better large-screen experience).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05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CF651-B2BA-A574-CD61-F66A4DBAF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07" y="481263"/>
            <a:ext cx="10954512" cy="1371600"/>
          </a:xfrm>
        </p:spPr>
        <p:txBody>
          <a:bodyPr>
            <a:normAutofit/>
          </a:bodyPr>
          <a:lstStyle/>
          <a:p>
            <a:r>
              <a:rPr lang="en-US" b="1" dirty="0"/>
              <a:t>Android Today (2025 and Beyond)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DC9BE-DA18-A7DB-E2B0-B5BFD1BEB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07" y="1986414"/>
            <a:ext cx="10643108" cy="4694237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Over </a:t>
            </a:r>
            <a:r>
              <a:rPr lang="en-US" sz="3200" b="1" dirty="0"/>
              <a:t>70% global market share</a:t>
            </a:r>
            <a:r>
              <a:rPr lang="en-US" sz="3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Found in </a:t>
            </a:r>
            <a:r>
              <a:rPr lang="en-US" sz="3200" b="1" dirty="0"/>
              <a:t>smartphones, tablets, wearables, TVs, and vehicles</a:t>
            </a:r>
            <a:r>
              <a:rPr lang="en-US" sz="32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Open-source flexibility enables device diversity.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894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CC465-4B57-BECA-8B8F-027D266C9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557840"/>
            <a:ext cx="10954512" cy="1325562"/>
          </a:xfrm>
        </p:spPr>
        <p:txBody>
          <a:bodyPr/>
          <a:lstStyle/>
          <a:p>
            <a:r>
              <a:rPr lang="en-US" b="1" dirty="0"/>
              <a:t>Key Features of Android Today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33839-CD66-A4C1-DDF6-E7CE4093E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306" y="2027781"/>
            <a:ext cx="10655300" cy="460295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Customization:</a:t>
            </a:r>
            <a:r>
              <a:rPr lang="en-US" sz="3200" dirty="0"/>
              <a:t> Widgets, themes, custom ROMs.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App Ecosystem:</a:t>
            </a:r>
            <a:r>
              <a:rPr lang="en-US" sz="3200" dirty="0"/>
              <a:t> Millions of apps, sideloading flexibility.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Cross-Device Integration:</a:t>
            </a:r>
            <a:r>
              <a:rPr lang="en-US" sz="3200" dirty="0"/>
              <a:t> Works with smartwatches (Wear OS), TVs (Android TV), and Google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484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A5801-ADA1-B8D7-9D26-D93DA9A8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00" y="431933"/>
            <a:ext cx="11303000" cy="1003300"/>
          </a:xfrm>
        </p:spPr>
        <p:txBody>
          <a:bodyPr>
            <a:normAutofit fontScale="90000"/>
          </a:bodyPr>
          <a:lstStyle/>
          <a:p>
            <a:r>
              <a:rPr lang="en-US" sz="4800" b="1" dirty="0"/>
              <a:t>3. Explain The Architecture Of Android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99C32-677E-E5B3-96D7-53B6E3EE4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200" y="1944303"/>
            <a:ext cx="10566400" cy="4351337"/>
          </a:xfrm>
        </p:spPr>
        <p:txBody>
          <a:bodyPr/>
          <a:lstStyle/>
          <a:p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architecture of Android is designed to provide a flexible, secure, and scalable platform for mobile devices. </a:t>
            </a:r>
          </a:p>
          <a:p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It’s composed of several layers that interact with each other, enabling developers to build powerful apps while ensuring security and stability.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Here's an overview of the </a:t>
            </a: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Android architecture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217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D85D-12E9-8BD9-C5A1-7F41DC45F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85" y="575109"/>
            <a:ext cx="12192000" cy="1447800"/>
          </a:xfrm>
        </p:spPr>
        <p:txBody>
          <a:bodyPr>
            <a:normAutofit fontScale="90000"/>
          </a:bodyPr>
          <a:lstStyle/>
          <a:p>
            <a:r>
              <a:rPr lang="en-US" sz="67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Linux Kernel</a:t>
            </a:r>
            <a:br>
              <a:rPr lang="en-US" sz="4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7DC87-6778-70F2-8FAB-6989C4AAF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924" y="1722655"/>
            <a:ext cx="10677625" cy="4560236"/>
          </a:xfrm>
        </p:spPr>
        <p:txBody>
          <a:bodyPr/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foundation of Android’s architecture.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Provides low-level services like memory management, process management, and hardware abstraction.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Manages hardware drivers, power management, and network access.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572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2970B-2BC9-1FA4-3F6E-AA6F37ED5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77" y="223253"/>
            <a:ext cx="11303000" cy="1308100"/>
          </a:xfrm>
        </p:spPr>
        <p:txBody>
          <a:bodyPr>
            <a:normAutofit fontScale="90000"/>
          </a:bodyPr>
          <a:lstStyle/>
          <a:p>
            <a:br>
              <a:rPr lang="en-US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53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2. Hardware Abstraction Layer (HAL)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8470-D999-9D8D-94C8-9E0529364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974" y="1606884"/>
            <a:ext cx="10374698" cy="4697663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Abstracts hardware functionality for higher-level software.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Offers a consistent interface to hardware components like camera, Bluetooth, and sensors.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Helps ensure that Android can run on a variety of devices with different hardware configurations.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B11B8-BECC-9D5A-67D5-C3B1BEE75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139700"/>
            <a:ext cx="11252200" cy="1435100"/>
          </a:xfrm>
        </p:spPr>
        <p:txBody>
          <a:bodyPr>
            <a:normAutofit fontScale="90000"/>
          </a:bodyPr>
          <a:lstStyle/>
          <a:p>
            <a:r>
              <a:rPr lang="en-US" sz="67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Android Runtime (ART)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6BE84-00BB-EFD9-C187-5D5360581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100" y="1308100"/>
            <a:ext cx="10795000" cy="4872037"/>
          </a:xfrm>
        </p:spPr>
        <p:txBody>
          <a:bodyPr>
            <a:normAutofit fontScale="25000" lnSpcReduction="20000"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Replaces </a:t>
            </a:r>
            <a:r>
              <a:rPr lang="en-US" sz="1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Dalvik</a:t>
            </a:r>
            <a:r>
              <a:rPr lang="en-US" sz="1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(the original Android runtime) in newer Android versions.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Executes app code (compiled Java code) in the form of </a:t>
            </a:r>
            <a:r>
              <a:rPr lang="en-US" sz="1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bytecode</a:t>
            </a:r>
            <a:r>
              <a:rPr lang="en-US" sz="1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Provides enhanced performance, memory management, and garbage collection.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Core libraries</a:t>
            </a:r>
            <a:r>
              <a:rPr lang="en-US" sz="1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A set of libraries that provide standard Java functionality, adapted for mobile devices.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213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45651-4084-06C5-240F-890B4AB82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482600"/>
            <a:ext cx="10954512" cy="990600"/>
          </a:xfrm>
        </p:spPr>
        <p:txBody>
          <a:bodyPr>
            <a:normAutofit fontScale="90000"/>
          </a:bodyPr>
          <a:lstStyle/>
          <a:p>
            <a:r>
              <a:rPr lang="en-US" sz="53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 Libraries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D98F1-7521-573E-F010-128656C67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1130300"/>
            <a:ext cx="10954512" cy="5727700"/>
          </a:xfrm>
        </p:spPr>
        <p:txBody>
          <a:bodyPr/>
          <a:lstStyle/>
          <a:p>
            <a:pPr marL="342900" marR="0" lvl="0" indent="-342900">
              <a:lnSpc>
                <a:spcPct val="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Android includes a set of native libraries written in C/C++ that provide</a:t>
            </a:r>
          </a:p>
          <a:p>
            <a:pPr marL="0" marR="0" lvl="0" indent="0">
              <a:lnSpc>
                <a:spcPct val="5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8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crucial functions.    </a:t>
            </a: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WebKit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(for rendering web pages),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SQLite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(for local databases),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OpenGL ES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(for graphics).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libraries help developers access important features like:-                      </a:t>
            </a:r>
          </a:p>
          <a:p>
            <a:pPr marL="0" marR="0" lvl="0" indent="0" algn="just">
              <a:lnSpc>
                <a:spcPct val="5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media playback </a:t>
            </a:r>
          </a:p>
          <a:p>
            <a:pPr marL="0" marR="0" lvl="0" indent="0" algn="just">
              <a:lnSpc>
                <a:spcPct val="5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graphics, and </a:t>
            </a:r>
          </a:p>
          <a:p>
            <a:pPr marL="0" marR="0" lvl="0" indent="0" algn="just">
              <a:lnSpc>
                <a:spcPct val="50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security.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8961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5F67F-F5A9-A235-2894-DDEBAAF17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90" y="332242"/>
            <a:ext cx="10840212" cy="1325562"/>
          </a:xfrm>
        </p:spPr>
        <p:txBody>
          <a:bodyPr>
            <a:normAutofit fontScale="90000"/>
          </a:bodyPr>
          <a:lstStyle/>
          <a:p>
            <a:r>
              <a:rPr lang="en-US" sz="6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Application Framework</a:t>
            </a:r>
            <a:br>
              <a:rPr lang="en-US" sz="4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E6C8B-8C97-B536-B35D-EA14C0835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400" y="1319752"/>
            <a:ext cx="10212633" cy="5024487"/>
          </a:xfrm>
        </p:spPr>
        <p:txBody>
          <a:bodyPr>
            <a:normAutofit lnSpcReduction="10000"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set of APIs and services that developers can use to build apps.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Provides services like: 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Activity Manager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Handles app lifecycle and activity stack.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Window Manager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Manages screen rendering.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Content Providers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Manages data access across apps.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Resource Manager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Manages app resources (e.g., strings, images).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Location Manager</a:t>
            </a: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Provides GPS and location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30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C91B8-893F-0BF0-4973-3AAB2822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7076"/>
            <a:ext cx="11239500" cy="1435100"/>
          </a:xfrm>
        </p:spPr>
        <p:txBody>
          <a:bodyPr>
            <a:normAutofit fontScale="90000"/>
          </a:bodyPr>
          <a:lstStyle/>
          <a:p>
            <a:r>
              <a:rPr lang="en-US" sz="6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6. Applications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7F32B-06BD-336C-B306-D874D3ABF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2998" y="1527142"/>
            <a:ext cx="9700181" cy="4901938"/>
          </a:xfrm>
        </p:spPr>
        <p:txBody>
          <a:bodyPr>
            <a:normAutofit fontScale="40000" lnSpcReduction="20000"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7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Android apps are built on top of the framework using the provided tools and libraries.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7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System apps</a:t>
            </a:r>
            <a:r>
              <a:rPr lang="en-US" sz="7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like Phone, Messaging, and Browser are pre-installed.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7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Apps are typically written in </a:t>
            </a:r>
            <a:r>
              <a:rPr lang="en-US" sz="7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</a:t>
            </a:r>
            <a:r>
              <a:rPr lang="en-US" sz="7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 </a:t>
            </a:r>
            <a:r>
              <a:rPr lang="en-US" sz="76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Kotlin</a:t>
            </a:r>
            <a:r>
              <a:rPr lang="en-US" sz="7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use the Android APIs to interact with the system.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7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Apps are sandboxed to ensure security and prevent unauthorized access to other apps'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360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9F113-B04D-6EE9-AFFE-799F580FE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2" y="478881"/>
            <a:ext cx="10879098" cy="1255651"/>
          </a:xfrm>
        </p:spPr>
        <p:txBody>
          <a:bodyPr>
            <a:normAutofit fontScale="90000"/>
          </a:bodyPr>
          <a:lstStyle/>
          <a:p>
            <a:r>
              <a:rPr lang="en-US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Summary of Layers:</a:t>
            </a:r>
            <a:br>
              <a:rPr lang="en-US" sz="4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3216A-F36A-1A64-55FF-474BB4757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157" y="1451728"/>
            <a:ext cx="9747316" cy="5005633"/>
          </a:xfrm>
        </p:spPr>
        <p:txBody>
          <a:bodyPr>
            <a:noAutofit/>
          </a:bodyPr>
          <a:lstStyle/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Linux Kernel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Core system services and hardware management.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Hardware Abstraction Layer (HAL)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Interface between hardware and software.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Android Runtime (ART)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Executes app code and provides libraries.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Libraries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Native libraries for system functions.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 Framework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High-level APIs for developers.</a:t>
            </a:r>
          </a:p>
          <a:p>
            <a:pPr marL="342900" marR="0" lvl="0" indent="-342900">
              <a:lnSpc>
                <a:spcPct val="100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Applications</a:t>
            </a: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End-user apps built using the framework.</a:t>
            </a:r>
          </a:p>
          <a:p>
            <a:pPr>
              <a:lnSpc>
                <a:spcPct val="100000"/>
              </a:lnSpc>
              <a:spcAft>
                <a:spcPts val="800"/>
              </a:spcAft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This layered architecture ensures Android is versatile, secure, and supports a wide range of devices while providing a seamless developer experience.</a:t>
            </a:r>
          </a:p>
          <a:p>
            <a:pPr marL="0" marR="0" lvl="0" indent="0">
              <a:lnSpc>
                <a:spcPct val="115000"/>
              </a:lnSpc>
              <a:spcAft>
                <a:spcPts val="800"/>
              </a:spcAft>
              <a:buNone/>
              <a:tabLst>
                <a:tab pos="457200" algn="l"/>
              </a:tabLst>
            </a:pPr>
            <a:endParaRPr lang="en-US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00904102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83</TotalTime>
  <Words>1430</Words>
  <Application>Microsoft Office PowerPoint</Application>
  <PresentationFormat>Widescreen</PresentationFormat>
  <Paragraphs>142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Century Schoolbook</vt:lpstr>
      <vt:lpstr>Courier New</vt:lpstr>
      <vt:lpstr>Symbol</vt:lpstr>
      <vt:lpstr>Wingdings</vt:lpstr>
      <vt:lpstr>Wingdings 2</vt:lpstr>
      <vt:lpstr>View</vt:lpstr>
      <vt:lpstr>Bule Hora University  Collage Of Informatics Department Of Software Engineering. Assignment For Mobile Application Development. Prepared by:- Nanbon Bekele id: 0746</vt:lpstr>
      <vt:lpstr>1. Describe Type Of Mobile Application             And Mobile OS</vt:lpstr>
      <vt:lpstr>1.1 Type Of Mobile Application</vt:lpstr>
      <vt:lpstr>By Technology </vt:lpstr>
      <vt:lpstr>….cont.</vt:lpstr>
      <vt:lpstr>By Purpose </vt:lpstr>
      <vt:lpstr>…cont. </vt:lpstr>
      <vt:lpstr>1.2  Type Of Mobile OS</vt:lpstr>
      <vt:lpstr>1. Android (by Google) </vt:lpstr>
      <vt:lpstr>2. iOS (by Apple) </vt:lpstr>
      <vt:lpstr>3. Other Mobile OS </vt:lpstr>
      <vt:lpstr>2. Discuss History Of Android </vt:lpstr>
      <vt:lpstr>Early Beginnings (2003-2005) </vt:lpstr>
      <vt:lpstr>The Launch of Android (2007-2008) </vt:lpstr>
      <vt:lpstr>Growth and Refinement (2009-2011) </vt:lpstr>
      <vt:lpstr>Dominance and Maturation (2012-2014) </vt:lpstr>
      <vt:lpstr>The Evolution of Android (2015-Present)</vt:lpstr>
      <vt:lpstr>….cont. </vt:lpstr>
      <vt:lpstr>Android Today (2025 and Beyond) </vt:lpstr>
      <vt:lpstr>Key Features of Android Today </vt:lpstr>
      <vt:lpstr>3. Explain The Architecture Of Android</vt:lpstr>
      <vt:lpstr>1. Linux Kernel </vt:lpstr>
      <vt:lpstr> 2. Hardware Abstraction Layer (HAL) </vt:lpstr>
      <vt:lpstr>3. Android Runtime (ART) </vt:lpstr>
      <vt:lpstr>4. Libraries </vt:lpstr>
      <vt:lpstr>5. Application Framework </vt:lpstr>
      <vt:lpstr>   6. Applications </vt:lpstr>
      <vt:lpstr>Summary of Layers: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40</cp:revision>
  <dcterms:created xsi:type="dcterms:W3CDTF">2025-03-13T16:26:19Z</dcterms:created>
  <dcterms:modified xsi:type="dcterms:W3CDTF">2025-03-17T14:34:55Z</dcterms:modified>
</cp:coreProperties>
</file>